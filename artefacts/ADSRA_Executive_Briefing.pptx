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822960"/>
            <a:ext cx="457200" cy="457200"/>
          </a:xfrm>
          <a:prstGeom prst="ellipse">
            <a:avLst/>
          </a:prstGeom>
          <a:solidFill>
            <a:srgbClr val="C8A24B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554480"/>
            <a:ext cx="256032" cy="256032"/>
          </a:xfrm>
          <a:prstGeom prst="ellipse">
            <a:avLst/>
          </a:prstGeom>
          <a:solidFill>
            <a:srgbClr val="C8A24B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920240"/>
            <a:ext cx="164592" cy="164592"/>
          </a:xfrm>
          <a:prstGeom prst="ellipse">
            <a:avLst/>
          </a:prstGeom>
          <a:solidFill>
            <a:srgbClr val="C8A24B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2560320"/>
            <a:ext cx="365760" cy="365760"/>
          </a:xfrm>
          <a:prstGeom prst="ellipse">
            <a:avLst/>
          </a:prstGeom>
          <a:solidFill>
            <a:srgbClr val="C8A24B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640080"/>
            <a:ext cx="146304" cy="146304"/>
          </a:xfrm>
          <a:prstGeom prst="ellipse">
            <a:avLst/>
          </a:prstGeom>
          <a:solidFill>
            <a:srgbClr val="C8A24B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 S R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Australian Digital Sovereignty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global cloud and AI platforms while retaining Australian control of data, identity, cryptography, operations and AI — in line with Australian regulatory and business obligations.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212080"/>
            <a:ext cx="3840480" cy="0"/>
          </a:xfrm>
          <a:prstGeom prst="line">
            <a:avLst/>
          </a:prstGeom>
          <a:noFill/>
          <a:ln w="19050">
            <a:solidFill>
              <a:srgbClr val="C8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394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— for Board, Risk Committee and Executive Technology Leadership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Duane  ·  Draft v0.1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CLOCK IS ALREADY RUNNING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sovereignty obligations have moved from policy to enforcement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554480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Jul 2025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 CPS 230 in force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risk, critical operations and material service providers. Pre-existing provider contracts must comply by the earlier of renewal or 1 Jul 2026 — this month.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APRA, 2025–26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64992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554480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Jun 2025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547872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tort live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47872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tort for serious invasions of privacy under the Privacy and Other Legislation Amendment Act 2024; tiered penalties and stronger OAIC powers already apply.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47872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1988 (Cth), as amended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27064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1554480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994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Dec 2026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409944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Automated-decision transparency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9944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policies must disclose substantially automated decisions that significantly affect individuals — a direct constraint on AI architecture.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9944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1.7–1.9 (2024 Act)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89136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0304" y="1554480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2025–26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272016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policy consolidates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72016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for AI Adoption (Oct 2025) supersedes the Voluntary AI Safety Standard; the National AI Plan (Dec 2025) relies on existing law plus a new AI Safety Institute from 2026.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72016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 / National AI Centre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SOCI: </a:t>
            </a:r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critical-infrastructure risk-management programs and incident reporting now span 11 sectors — including financial services, healthcare, energy and data storage.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 is treated as a compliance checkbox — not an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4892040"/>
          </a:xfrm>
          <a:prstGeom prst="roundRect">
            <a:avLst>
              <a:gd name="adj" fmla="val 1308"/>
            </a:avLst>
          </a:prstGeom>
          <a:solidFill>
            <a:srgbClr val="142A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Jurisdictional reach.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CLOUD Act (2018) can compel US-headquartered providers to produce data regardless of where it is stored — residency alone is not sovereignty.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Concentration.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operations increasingly run on a small number of global hyperscale and SaaS providers — exactly the dependency CPS 230 asks boards to evidence and control.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opacity.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embeddings, telemetry and fine-tuning data flow through model supply chains that most enterprises cannot map, audit or constrain today.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892040"/>
          </a:xfrm>
          <a:prstGeom prst="roundRect">
            <a:avLst>
              <a:gd name="adj" fmla="val 1308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cohesive reference model.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gives method, SABSA gives security attributes, cloud well-architected frameworks give workload guidance, the ISM gives controls — none treats digital sovereignty as a first-class enterprise architecture domain with capabilities, maturity levels and measures.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consequence.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decisions are made workload-by-workload, late, and without an investment logic the Board can govern. Risk is accepted implicitly rather than priced explicitly.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opportunity.</a:t>
            </a:r>
            <a:endParaRPr lang="en-US" sz="12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reference architecture the market is converging on — before it is defined for us.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ADSRA: sovereignty as an enterprise architecture capability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architecture enabling Australian organisations to use global cloud and AI platforms while retaining control over data, identity, cryptography, operations and AI — expressed as control domains, capabilities, reference patterns, a maturity model and measurable KRIs.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201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4069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not provide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TOGAF / ADM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architecture method and content metamodel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sovereignty domain, controls or jurisdictional lens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Business-attribute-driven security 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cloud/AI-era specific; no AU regulatory mapping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Azure Well-Architected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Workload-level design guidance per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Single-vendor scope; not an enterprise operating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ISM / Essential Eight (ASD)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cyber controls and hardening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catalogue, not an architecture or investment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ADSRA (proposed)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 control domains, 20 capabilities, maturity model, KRIs, AU regulatory mapping, AI sovereignty patterns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Method-neutral: designed to plug into TOGAF/SABSA practice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ORGANISING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 sits above technology — not below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1188720"/>
            <a:ext cx="8138160" cy="475488"/>
          </a:xfrm>
          <a:prstGeom prst="roundRect">
            <a:avLst>
              <a:gd name="adj" fmla="val 9615"/>
            </a:avLst>
          </a:prstGeom>
          <a:solidFill>
            <a:srgbClr val="142A4C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1887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773936"/>
            <a:ext cx="8138160" cy="475488"/>
          </a:xfrm>
          <a:prstGeom prst="roundRect">
            <a:avLst>
              <a:gd name="adj" fmla="val 9615"/>
            </a:avLst>
          </a:prstGeom>
          <a:solidFill>
            <a:srgbClr val="1F3A63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7739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 OBLIGATIONS   —   CPS 230 / CPS 234 · Privacy Act · SOCI · ISM · HCF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91640" y="2377440"/>
            <a:ext cx="8778240" cy="1600200"/>
          </a:xfrm>
          <a:prstGeom prst="roundRect">
            <a:avLst>
              <a:gd name="adj" fmla="val 4000"/>
            </a:avLst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4505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SOVEREIGNTY CONTROL LAYER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142A4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0217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14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3370217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54434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142A4C"/>
          </a:solidFill>
          <a:ln/>
        </p:spPr>
      </p:sp>
      <p:sp>
        <p:nvSpPr>
          <p:cNvPr id="15" name="Text 13"/>
          <p:cNvSpPr/>
          <p:nvPr/>
        </p:nvSpPr>
        <p:spPr>
          <a:xfrm>
            <a:off x="4454434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8651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14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5538651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2869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142A4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2869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07086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142A4C"/>
          </a:solidFill>
          <a:ln/>
        </p:spPr>
      </p:sp>
      <p:sp>
        <p:nvSpPr>
          <p:cNvPr id="21" name="Text 19"/>
          <p:cNvSpPr/>
          <p:nvPr/>
        </p:nvSpPr>
        <p:spPr>
          <a:xfrm>
            <a:off x="7707086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91303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142A4C"/>
          </a:solidFill>
          <a:ln/>
        </p:spPr>
      </p:sp>
      <p:sp>
        <p:nvSpPr>
          <p:cNvPr id="23" name="Text 21"/>
          <p:cNvSpPr/>
          <p:nvPr/>
        </p:nvSpPr>
        <p:spPr>
          <a:xfrm>
            <a:off x="8791303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0" y="411480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D9E4F0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   —   Applications · Integration · Data · AI · Analytics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4791456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D9E4F0"/>
          </a:solidFill>
          <a:ln/>
        </p:spPr>
      </p:sp>
      <p:sp>
        <p:nvSpPr>
          <p:cNvPr id="27" name="Text 25"/>
          <p:cNvSpPr/>
          <p:nvPr/>
        </p:nvSpPr>
        <p:spPr>
          <a:xfrm>
            <a:off x="2194560" y="479145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  —   AWS · Azure · Google Cloud · Private Cloud · SaaS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5468112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D9E4F0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546811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 —   Data centres · Networks · Endpoints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17220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below the line inherits the controls of the sovereignty layer — policy is enforced by platform, evidenced by telemetry, and governed like any other enterprise capability.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SOVEREIGNTY PILLARS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questions every board should be able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1F3A63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664208"/>
            <a:ext cx="475488" cy="47548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07592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legally compel access to our information?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1F3A63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1664208"/>
            <a:ext cx="475488" cy="47548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69664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acting, from where, and with what privilege?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7064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1F3A6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28232" y="1664208"/>
            <a:ext cx="475488" cy="47548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31736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the keys that control trust?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89136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1F3A63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0304" y="1664208"/>
            <a:ext cx="475488" cy="47548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9290304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93808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08592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administers production — and from which jurisdiction?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20240" y="384048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1F3A6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21408" y="4041648"/>
            <a:ext cx="475488" cy="47548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2121408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724912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39696" y="4709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prompts, embeddings, inference and training occur?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82312" y="384048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1F3A63"/>
          </a:solidFill>
          <a:ln/>
        </p:spPr>
      </p:sp>
      <p:sp>
        <p:nvSpPr>
          <p:cNvPr id="30" name="Shape 28"/>
          <p:cNvSpPr/>
          <p:nvPr/>
        </p:nvSpPr>
        <p:spPr>
          <a:xfrm>
            <a:off x="4983480" y="4041648"/>
            <a:ext cx="475488" cy="47548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586984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01768" y="4709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compliance enforced by the platform, or by a policy PDF?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44384" y="384048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1F3A63"/>
          </a:solidFill>
          <a:ln/>
        </p:spPr>
      </p:sp>
      <p:sp>
        <p:nvSpPr>
          <p:cNvPr id="35" name="Shape 33"/>
          <p:cNvSpPr/>
          <p:nvPr/>
        </p:nvSpPr>
        <p:spPr>
          <a:xfrm>
            <a:off x="7845552" y="4041648"/>
            <a:ext cx="475488" cy="47548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36" name="Text 34"/>
          <p:cNvSpPr/>
          <p:nvPr/>
        </p:nvSpPr>
        <p:spPr>
          <a:xfrm>
            <a:off x="784555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49056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4709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prove, audit and measure sovereignty — daily?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61722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carries defined control objectives, reference patterns and measurable key risk indicators.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1–3 · CONTROL THE ASSET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identity and cryptography: control before consumption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11880" cy="4892040"/>
          </a:xfrm>
          <a:prstGeom prst="roundRect">
            <a:avLst>
              <a:gd name="adj" fmla="val 1772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SOVEREIGNTY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with sovereignty tiers (Low → Critical)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 &amp; cross-border transfer controls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and data loss prevention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impact assessments in delivery lifecycle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4983480"/>
            <a:ext cx="3154680" cy="0"/>
          </a:xfrm>
          <a:prstGeom prst="line">
            <a:avLst/>
          </a:prstGeom>
          <a:noFill/>
          <a:ln w="15875">
            <a:solidFill>
              <a:srgbClr val="C8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drives everything: each tier receives different architectural treatment.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325880"/>
            <a:ext cx="3611880" cy="4892040"/>
          </a:xfrm>
          <a:prstGeom prst="roundRect">
            <a:avLst>
              <a:gd name="adj" fmla="val 1772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IDENTITY SOVEREIGNTY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53712" y="2148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Australian-controlled enterprise IdP &amp; federation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Trust: continuous verification, least privilege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conditional access, PIM/PAM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governance &amp; recertification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53712" y="4983480"/>
            <a:ext cx="3154680" cy="0"/>
          </a:xfrm>
          <a:prstGeom prst="line">
            <a:avLst/>
          </a:prstGeom>
          <a:noFill/>
          <a:ln w="15875">
            <a:solidFill>
              <a:srgbClr val="C8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answers: who, what, why, when, from where, at what risk score.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7304" y="1325880"/>
            <a:ext cx="3611880" cy="4892040"/>
          </a:xfrm>
          <a:prstGeom prst="roundRect">
            <a:avLst>
              <a:gd name="adj" fmla="val 1772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CRYPTOGRAPHIC SOVEREIGNTY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75904" y="2148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 (CMK), BYOK / HYOK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HSM-backed roots of trust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encryption for critical tiers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 and crypto-agility (PQC-ready)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75904" y="4983480"/>
            <a:ext cx="3154680" cy="0"/>
          </a:xfrm>
          <a:prstGeom prst="line">
            <a:avLst/>
          </a:prstGeom>
          <a:noFill/>
          <a:ln w="15875">
            <a:solidFill>
              <a:srgbClr val="C8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the last defence against jurisdictional uncertainty — if you hold the keys.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4–7 · CONTROL THE OPERATION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AI, governance and observability: control in 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OPERATIONAL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operations, SOC &amp; incident response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separation of duties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session recording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Jurisdiction-aware break-glass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364992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47872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embedding, inference &amp; training sovereignty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+ approved model registry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governance &amp; PII detection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&amp; audit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27064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GOVERNANCE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9944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(Azure Policy, SCPs, OPA)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validation in pipelines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guardrails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 inherits compliance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089136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OBSERVABILITY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72016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logging, SIEM, UEBA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&amp; model telemetry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dashboards &amp; regulatory reporting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201400" cy="777240"/>
          </a:xfrm>
          <a:prstGeom prst="roundRect">
            <a:avLst>
              <a:gd name="adj" fmla="val 8235"/>
            </a:avLst>
          </a:prstGeom>
          <a:solidFill>
            <a:srgbClr val="14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is the underdeveloped pillar — </a:t>
            </a:r>
            <a:pPr indent="0" marL="0">
              <a:buNone/>
            </a:pPr>
            <a:r>
              <a:rPr lang="en-US" sz="12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continuously measure sovereignty, you cannot claim it. This is where AI observability practice extends naturally into sovereignty assurance.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NATIONAL RETAILER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everything needs a fortress: classification prices the control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48840"/>
                <a:gridCol w="6309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asset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 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treatment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catalogue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CDN, provider-managed encryption, standard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promotions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 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AU-region hosting, CMK optional, DLP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 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residency, CMK, tokenised identifiers, PIA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 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residency, CMK, conditional access, ADM-transparency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 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Tokenised (PCI DSS), HSM-backed keys, AU SOC, client-side 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029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(Critical):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Australia East, customer-managed keys, tokenised payments, Australian SOC.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5029200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5029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(Low):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globally on public CDN — no personal information, no sovereignty premium paid.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LENSES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architecture, four regulatory postures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14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27632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9933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230 critical operations &amp; tolerance levels; CPS 234 information security; 24-hour notification of tolerance breaches, 72-hour for material incidents. Sovereignty tiers map directly to the critical-operations register.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142A4C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627632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&amp; SUPER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3952" y="19933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service provider registers, exit and contingency plans, fourth-party visibility. Sovereignty KRIs give Risk Committees a quantified view of provider concentration and jurisdictional exposure.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1F3A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96512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" y="446227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tort and tiered penalties raise the cost of loyalty and profile data breaches; ADM transparency (Dec 2026) constrains pricing and personalisation AI. PCI tokenisation becomes the Critical-tier pattern.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1F3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4096512"/>
            <a:ext cx="146304" cy="14630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446227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Health Records Act requires records to be held and processed in Australia; SOCI covers the healthcare sector; sensitive health data sits at Critical tier with client-side encryption and AU-only AI inference.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sovereignty: the model is only one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389888" cy="1234440"/>
          </a:xfrm>
          <a:prstGeom prst="chevron">
            <a:avLst/>
          </a:prstGeom>
          <a:solidFill>
            <a:srgbClr val="D9E4F0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1389888" cy="1234440"/>
          </a:xfrm>
          <a:prstGeom prst="chevron">
            <a:avLst/>
          </a:prstGeom>
          <a:solidFill>
            <a:srgbClr val="142A4C"/>
          </a:solidFill>
          <a:ln/>
        </p:spPr>
      </p:sp>
      <p:sp>
        <p:nvSpPr>
          <p:cNvPr id="7" name="Text 5"/>
          <p:cNvSpPr/>
          <p:nvPr/>
        </p:nvSpPr>
        <p:spPr>
          <a:xfrm>
            <a:off x="19842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1389888" cy="1234440"/>
          </a:xfrm>
          <a:prstGeom prst="chevron">
            <a:avLst/>
          </a:prstGeom>
          <a:solidFill>
            <a:srgbClr val="142A4C"/>
          </a:solidFill>
          <a:ln/>
        </p:spPr>
      </p:sp>
      <p:sp>
        <p:nvSpPr>
          <p:cNvPr id="9" name="Text 7"/>
          <p:cNvSpPr/>
          <p:nvPr/>
        </p:nvSpPr>
        <p:spPr>
          <a:xfrm>
            <a:off x="33558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1389888" cy="1234440"/>
          </a:xfrm>
          <a:prstGeom prst="chevron">
            <a:avLst/>
          </a:prstGeom>
          <a:solidFill>
            <a:srgbClr val="142A4C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989320" y="1828800"/>
            <a:ext cx="1389888" cy="1234440"/>
          </a:xfrm>
          <a:prstGeom prst="chevron">
            <a:avLst/>
          </a:prstGeom>
          <a:solidFill>
            <a:srgbClr val="14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360920" y="1828800"/>
            <a:ext cx="1389888" cy="1234440"/>
          </a:xfrm>
          <a:prstGeom prst="chevron">
            <a:avLst/>
          </a:prstGeom>
          <a:solidFill>
            <a:srgbClr val="C8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74706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+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732520" y="1828800"/>
            <a:ext cx="1389888" cy="1234440"/>
          </a:xfrm>
          <a:prstGeom prst="chevron">
            <a:avLst/>
          </a:prstGeom>
          <a:solidFill>
            <a:srgbClr val="1F3A63"/>
          </a:solidFill>
          <a:ln/>
        </p:spPr>
      </p:sp>
      <p:sp>
        <p:nvSpPr>
          <p:cNvPr id="17" name="Text 15"/>
          <p:cNvSpPr/>
          <p:nvPr/>
        </p:nvSpPr>
        <p:spPr>
          <a:xfrm>
            <a:off x="88422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Model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region)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10104120" y="1828800"/>
            <a:ext cx="1389888" cy="1234440"/>
          </a:xfrm>
          <a:prstGeom prst="chevron">
            <a:avLst/>
          </a:prstGeom>
          <a:solidFill>
            <a:srgbClr val="142A4C"/>
          </a:solidFill>
          <a:ln/>
        </p:spPr>
      </p:sp>
      <p:sp>
        <p:nvSpPr>
          <p:cNvPr id="19" name="Text 17"/>
          <p:cNvSpPr/>
          <p:nvPr/>
        </p:nvSpPr>
        <p:spPr>
          <a:xfrm>
            <a:off x="102138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 w="9525">
            <a:solidFill>
              <a:srgbClr val="5B6B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204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&amp; AI OBSERVABILITY  —  prompts, retrievals, model versions, decisions, tokens, cost, jurisdiction of inference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3108960"/>
            <a:ext cx="0" cy="411480"/>
          </a:xfrm>
          <a:prstGeom prst="line">
            <a:avLst/>
          </a:prstGeom>
          <a:noFill/>
          <a:ln w="25400">
            <a:solidFill>
              <a:srgbClr val="C8A24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37760" y="3108960"/>
            <a:ext cx="0" cy="411480"/>
          </a:xfrm>
          <a:prstGeom prst="line">
            <a:avLst/>
          </a:prstGeom>
          <a:noFill/>
          <a:ln w="25400">
            <a:solidFill>
              <a:srgbClr val="C8A24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0" y="3108960"/>
            <a:ext cx="0" cy="411480"/>
          </a:xfrm>
          <a:prstGeom prst="line">
            <a:avLst/>
          </a:prstGeom>
          <a:noFill/>
          <a:ln w="25400">
            <a:solidFill>
              <a:srgbClr val="C8A24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24160" y="3108960"/>
            <a:ext cx="0" cy="411480"/>
          </a:xfrm>
          <a:prstGeom prst="line">
            <a:avLst/>
          </a:prstGeom>
          <a:noFill/>
          <a:ln w="25400">
            <a:solidFill>
              <a:srgbClr val="C8A24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2920" y="4773168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6634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sovereignty —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prompts leave the enterprise boundary unfiltered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773168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6634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RAG sovereignty —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 and retrieval corpora remain in-region, access-governed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614416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0468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training sovereignty —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pins approved models, versions and regions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5614416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550468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governance —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validated, watermarked where required, and evidenced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CAPABILITY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capabilities a Board can fund, measure and govern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27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4088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Residency · Privacy Engineering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587752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30449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Privileged Access (PAM) · Federation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58184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867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088" y="4215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· HSM Services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928616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50383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" y="5385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Operations · Incident Response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527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19088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· Prompt Management · RAG Governance · Model Registry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587752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19088" y="30449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· Compliance Automation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758184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867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19088" y="4215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· Immutable Audit · AI Monitoring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928616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50383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19088" y="5385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Assurance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2179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is defined with control objectives (ADSRA-XX-nn), owner, reference pattern, target maturity and KRIs — detailed in the Technical Reference.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MATURITY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cloud adoption to autonomous sovereignty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142A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370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Adoption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3730752"/>
            <a:ext cx="1691640" cy="1389888"/>
          </a:xfrm>
          <a:prstGeom prst="roundRect">
            <a:avLst>
              <a:gd name="adj" fmla="val 2632"/>
            </a:avLst>
          </a:prstGeom>
          <a:solidFill>
            <a:srgbClr val="142A4C"/>
          </a:solidFill>
          <a:ln/>
        </p:spPr>
      </p:sp>
      <p:sp>
        <p:nvSpPr>
          <p:cNvPr id="8" name="Text 6"/>
          <p:cNvSpPr/>
          <p:nvPr/>
        </p:nvSpPr>
        <p:spPr>
          <a:xfrm>
            <a:off x="2487168" y="38039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14016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3163824"/>
            <a:ext cx="1691640" cy="1956816"/>
          </a:xfrm>
          <a:prstGeom prst="roundRect">
            <a:avLst>
              <a:gd name="adj" fmla="val 2162"/>
            </a:avLst>
          </a:prstGeom>
          <a:solidFill>
            <a:srgbClr val="1F3A63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3236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61104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Governance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2596896"/>
            <a:ext cx="1691640" cy="2523744"/>
          </a:xfrm>
          <a:prstGeom prst="roundRect">
            <a:avLst>
              <a:gd name="adj" fmla="val 2162"/>
            </a:avLst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26700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08192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Sovereignty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28432" y="2029968"/>
            <a:ext cx="1691640" cy="3090672"/>
          </a:xfrm>
          <a:prstGeom prst="roundRect">
            <a:avLst>
              <a:gd name="adj" fmla="val 2162"/>
            </a:avLst>
          </a:prstGeom>
          <a:solidFill>
            <a:srgbClr val="8A6E2F"/>
          </a:solidFill>
          <a:ln/>
        </p:spPr>
      </p:sp>
      <p:sp>
        <p:nvSpPr>
          <p:cNvPr id="17" name="Text 15"/>
          <p:cNvSpPr/>
          <p:nvPr/>
        </p:nvSpPr>
        <p:spPr>
          <a:xfrm>
            <a:off x="8028432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5280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Sovereignty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463040"/>
            <a:ext cx="1691640" cy="3657600"/>
          </a:xfrm>
          <a:prstGeom prst="roundRect">
            <a:avLst>
              <a:gd name="adj" fmla="val 2162"/>
            </a:avLst>
          </a:prstGeom>
          <a:solidFill>
            <a:srgbClr val="C8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15361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02368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Sovereignty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234440"/>
            <a:ext cx="5029200" cy="1600200"/>
          </a:xfrm>
          <a:prstGeom prst="roundRect">
            <a:avLst>
              <a:gd name="adj" fmla="val 4000"/>
            </a:avLst>
          </a:prstGeom>
          <a:solidFill>
            <a:srgbClr val="142A4C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298448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— the new contribution.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continuously ask: is every workload compliant? Has data crossed a jurisdiction? Is a key nearing expiry? Has inference moved offshore? The platform assesses and remediates sovereignty — continuously.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Australian enterprises operate at Levels 2–3 today. ADSRA targets 4–5 within 36 months.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VALUE, INVESTMENT AND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 priced as risk reduction, speed and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26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&amp; tort exposure avoided.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penalties now reach the greater of $50m, 3× benefit, or 30% of adjusted turnover; the statutory tort adds class-action-style exposure per incident.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speed.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sovereignty patterns cut architecture and risk-approval cycle times for new cloud and AI workloads.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3803904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visibility.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230 provider registers plus sovereignty KRIs give Risk Committees a quantified exit and substitution posture.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02920" y="4992624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992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to deploy AI.  </a:t>
            </a:r>
            <a:pPr indent="0" marL="0">
              <a:lnSpc>
                <a:spcPts val="1500"/>
              </a:lnSpc>
              <a:buNone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 AI sovereignty (gateway, registry, audit) is becoming the precondition for board approval of customer-facing AI.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858000" y="1325880"/>
            <a:ext cx="4846320" cy="4846320"/>
          </a:xfrm>
          <a:prstGeom prst="roundRect">
            <a:avLst>
              <a:gd name="adj" fmla="val 1321"/>
            </a:avLst>
          </a:prstGeom>
          <a:solidFill>
            <a:srgbClr val="142A4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THAT MATTER (KRIs)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0" y="201168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Critical/High data under customer-managed keys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privileged sessions administered from Australia (and recorded)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AI inference executed in-region via the LLM gateway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deployments passing policy-as-code gates first time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a cross-jurisdiction data movement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critical operations with tested exit / substitution plans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7132320" y="53949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A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quarterly to the Architecture Board and Risk Committee — trend, target, tolerance.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LEDGER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 is not free: the trade-offs, stated plainly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E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RISKS OF DOING THIS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controls (HYOK, client-side encryption, AU-only ops) add cost and can break native cloud features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In-region AI can lag frontier model availability — a real capability trade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Over-classification taxes low-risk workloads and slows delivery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scarcity: policy-as-code and AI governance engineering talent is thin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OF NOT DOING THIS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Unpriced jurisdictional exposure across data, keys and AI supply chains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230 / SOCI findings, remediation programs, and potential capital add-ons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tort and tiered-penalty exposure concentrated in unclassified data estates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stalls — every use case re-litigates risk from first principles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5760720"/>
            <a:ext cx="11201400" cy="640080"/>
          </a:xfrm>
          <a:prstGeom prst="roundRect">
            <a:avLst>
              <a:gd name="adj" fmla="val 10000"/>
            </a:avLst>
          </a:prstGeom>
          <a:solidFill>
            <a:srgbClr val="142A4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managed position: </a:t>
            </a:r>
            <a:pPr indent="0" marL="0">
              <a:buNone/>
            </a:pPr>
            <a:r>
              <a:rPr lang="en-US" sz="12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the estate, pay the sovereignty premium only where classification demands it, and measure the residual risk you consciously accept.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horizons to Level 4–5 — and what we ask of this 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 · 0–6 MONTHS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4088" y="23774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classification of Critical/High data estates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maturity assessment against the 20 capabilities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LLM gateway + model registry for all AI pilots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KRIs on the Risk Committee dashboard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4F6F9"/>
          </a:solidFill>
          <a:ln w="9525">
            <a:solidFill>
              <a:srgbClr val="E1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 · 6–18 MONTHS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CMK/HSM coverage for Critical tier; policy-as-code gates in all pipelines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operations &amp; privileged session recording for critical ops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governance and PII detection in production AI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/ substitution plans tested for material providers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47304" y="132588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14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8348472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 · 18–36 MONTHS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48472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48472" y="23774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sovereignty assurance (Level 5 → 6 pilots)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compliance monitoring across clouds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posture in annual report &amp; regulator engagement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and iterate the reference architecture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5669280"/>
            <a:ext cx="11201400" cy="731520"/>
          </a:xfrm>
          <a:prstGeom prst="roundRect">
            <a:avLst>
              <a:gd name="adj" fmla="val 8750"/>
            </a:avLst>
          </a:prstGeom>
          <a:solidFill>
            <a:srgbClr val="C8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69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300" dirty="0">
                <a:solidFill>
                  <a:srgbClr val="14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ADSRA as the enterprise sovereignty reference; fund Horizon 1; appoint an accountable executive owner; receive sovereignty KRIs quarterly.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2014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APRA, Prudential Standard CPS 230 Operational Risk Management (in force 1 Jul 2025; targeted amendments Apr 2026) and CPG 230.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APRA, Prudential Standard CPS 234 Information Security (2019).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1988 (Cth); Privacy and Other Legislation Amendment Act 2024 (Cth) — assent 10 Dec 2024; statutory tort by Jun 2025; APP 1.7–1.9 ADM transparency from 10 Dec 2026.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Legislation Amendment (Enforcement and Other Measures) Act 2022 (Cth) — penalty regime.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Critical Infrastructure Act 2018 (Cth) and CIRMP Rules — 11 sectors incl. financial services, healthcare, energy, data storage.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ASD/ACSC, Information Security Manual (ISM) and Essential Eight; IRAP assessment program.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 / Dept of Home Affairs, Hosting Certification Framework — Certified Strategic / Certified Assured (applies to new contracts from 30 Jun 2022).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 / National AI Centre — Voluntary AI Safety Standard (2024); Guidance for AI Adoption (Oct 2025); National AI Plan (Dec 2025); Australian AI Safety Institute (2026).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Health Records Act 2012 (Cth) — Australian data-handling requirements for My Health Record information.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Lawful Overseas Use of Data (CLOUD) Act 2018 (US) — extraterritorial production obligations on US providers.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42001:2023 AI Management Systems; NIST AI Risk Management Framework 1.0.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62179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C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citations, URLs and an evidence register appear in the ADSRA Technical Reference (companion document).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ADSRA — Australian Digital Sovereignty Reference Architecture  ·  Executive Briefing  ·  Draft v0.1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2026-07-12T22:13:45Z</dcterms:created>
  <dcterms:modified xsi:type="dcterms:W3CDTF">2026-07-12T22:13:45Z</dcterms:modified>
</cp:coreProperties>
</file>