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3" r:id="rId24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66"/>
    <p:restoredTop sz="94610"/>
  </p:normalViewPr>
  <p:slideViewPr>
    <p:cSldViewPr snapToGrid="0" snapToObjects="1">
      <p:cViewPr varScale="1">
        <p:scale>
          <a:sx n="141" d="100"/>
          <a:sy n="141" d="100"/>
        </p:scale>
        <p:origin x="224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Relationship Id="rId24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7337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Inter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Inter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Inter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Inter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Inter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Inte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Inte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Inte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Inter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pic>
        <p:nvPicPr>
          <p:cNvPr id="15" name="Picture 14" descr="ADSRA-Slide-B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 6"/>
          <p:cNvSpPr/>
          <p:nvPr/>
        </p:nvSpPr>
        <p:spPr>
          <a:xfrm>
            <a:off x="73152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 S R 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Australian Digital Sovereignty</a:t>
            </a:r>
            <a:endParaRPr lang="en-US" sz="46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 Architecture</a:t>
            </a:r>
            <a:endParaRPr lang="en-US" sz="4600" dirty="0"/>
          </a:p>
        </p:txBody>
      </p:sp>
      <p:sp>
        <p:nvSpPr>
          <p:cNvPr id="10" name="Text 8"/>
          <p:cNvSpPr/>
          <p:nvPr/>
        </p:nvSpPr>
        <p:spPr>
          <a:xfrm>
            <a:off x="731520" y="397764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60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Leveraging global cloud and AI platforms while retaining Australian control of data, identity, cryptography, operations and AI — in line with Australian regulatory and business obligations.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31520" y="5212080"/>
            <a:ext cx="3840480" cy="0"/>
          </a:xfrm>
          <a:prstGeom prst="line">
            <a:avLst/>
          </a:prstGeom>
          <a:noFill/>
          <a:ln w="19050">
            <a:solidFill>
              <a:srgbClr val="2E7D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31520" y="539496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5DA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Executive Briefing — for Board, Risk Committee and Executive Technology Leadership</a:t>
            </a:r>
            <a:endParaRPr lang="en-US" sz="13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300" dirty="0">
                <a:solidFill>
                  <a:srgbClr val="D5DA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Author: Duane  ·  Draft v0.2  ·  July 2026</a:t>
            </a:r>
            <a:endParaRPr lang="en-US" sz="1300" dirty="0"/>
          </a:p>
        </p:txBody>
      </p:sp>
      <p:pic>
        <p:nvPicPr>
          <p:cNvPr id="13" name="Picture 12" descr="Getamazednow-AI-Icon-Monochrom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10896"/>
            <a:ext cx="670918" cy="4572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78992" y="274320"/>
            <a:ext cx="4572000" cy="566928"/>
          </a:xfrm>
          <a:prstGeom prst="rect">
            <a:avLst/>
          </a:prstGeom>
          <a:noFill/>
        </p:spPr>
        <p:txBody>
          <a:bodyPr wrap="none" lIns="0" tIns="0" bIns="0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Poppins"/>
              </a:rPr>
              <a:t>Getamazednow AI</a:t>
            </a:r>
          </a:p>
          <a:p>
            <a:r>
              <a:rPr sz="800">
                <a:solidFill>
                  <a:srgbClr val="A8A17B"/>
                </a:solidFill>
                <a:latin typeface="Poppins"/>
              </a:rPr>
              <a:t>A GETAMAZEDNOW COMPANY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REGULATORY CLOCK IS ALREADY RUNNING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Why now: sovereignty obligations have moved from policy to enforcement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554480"/>
            <a:ext cx="310896" cy="31089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6858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 Jul 2025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685800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APRA CPS 230 in force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 risk, critical operations and material service providers. Pre-existing provider contracts must comply by the earlier of renewal or 1 Jul 2026 — this month.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APRA, 2025–26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364992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3566160" y="1554480"/>
            <a:ext cx="310896" cy="31089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547872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Jun 2025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3547872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tort live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3547872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Statutory tort for serious invasions of privacy under the Privacy and Other Legislation Amendment Act 2024; tiered penalties and stronger OAIC powers already apply.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547872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Act 1988 (Cth), as amended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227064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28232" y="1554480"/>
            <a:ext cx="310896" cy="31089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409944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10 Dec 2026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6409944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Automated-decision transparency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409944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policies must disclose substantially automated decisions that significantly affect individuals — a direct constraint on AI architecture.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9944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 1.7–1.9 (2024 Act)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089136" y="132588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9290304" y="1554480"/>
            <a:ext cx="310896" cy="31089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9272016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2025–26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272016" y="254203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policy consolidates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9272016" y="3108960"/>
            <a:ext cx="235915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Guidance for AI Adoption (Oct 2025) supersedes the Voluntary AI Safety Standard; the National AI Plan (Dec 2025) relies on existing law plus a new AI Safety Institute from 2026. The National framework for the assurance of AI in government (2024) sets a principles-based assurance expectation — binding on public agencies, a benchmark for regulated industry.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72016" y="5138928"/>
            <a:ext cx="23591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 / National AI Centre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502920" y="5806440"/>
            <a:ext cx="11201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SOCI: </a:t>
            </a:r>
            <a:r>
              <a:rPr lang="en-US" sz="120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critical-infrastructure risk-management programs and incident reporting now span 11 sectors — including financial services, healthcare, energy and data storage.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pic>
        <p:nvPicPr>
          <p:cNvPr id="31" name="Picture 30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STRATEGIC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Sovereignty is treated as a compliance checkbox — not an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892040"/>
          </a:xfrm>
          <a:prstGeom prst="roundRect">
            <a:avLst>
              <a:gd name="adj" fmla="val 1308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EXPOSURE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Jurisdictional reach.</a:t>
            </a:r>
            <a:endParaRPr lang="en-US" sz="1250" dirty="0"/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 CLOUD Act (2018) can compel US-headquartered providers to produce data regardless of where it is stored — residency alone is not sovereignty.</a:t>
            </a:r>
            <a:endParaRPr lang="en-US" sz="12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Concentration.</a:t>
            </a:r>
            <a:endParaRPr lang="en-US" sz="1250" dirty="0"/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Critical operations increasingly run on a small number of global hyperscale and SaaS providers — exactly the dependency CPS 230 asks boards to evidence and control.</a:t>
            </a:r>
            <a:endParaRPr lang="en-US" sz="12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opacity.</a:t>
            </a:r>
            <a:endParaRPr lang="en-US" sz="12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Prompts, embeddings, telemetry and fine-tuning data flow through model supply chains that most enterprises cannot map, audit or constrain today.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892040"/>
          </a:xfrm>
          <a:prstGeom prst="roundRect">
            <a:avLst>
              <a:gd name="adj" fmla="val 1308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600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GAP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9377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cohesive reference model.</a:t>
            </a:r>
            <a:endParaRPr lang="en-US" sz="1250" dirty="0"/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TOGAF gives method, SABSA gives security attributes, cloud well-architected frameworks give workload guidance, the ISM gives controls — none treats digital sovereignty as a first-class enterprise architecture domain with capabilities, maturity levels and measures.</a:t>
            </a:r>
            <a:endParaRPr lang="en-US" sz="12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consequence.</a:t>
            </a:r>
            <a:endParaRPr lang="en-US" sz="1250" dirty="0"/>
          </a:p>
          <a:p>
            <a:pPr marL="0" indent="0">
              <a:lnSpc>
                <a:spcPts val="1650"/>
              </a:lnSpc>
              <a:spcAft>
                <a:spcPts val="1000"/>
              </a:spcAft>
              <a:buNone/>
            </a:pPr>
            <a:r>
              <a:rPr lang="en-US" sz="12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decisions are made workload-by-workload, late, and without an investment logic the Board can govern. Risk is accepted implicitly rather than priced explicitly.</a:t>
            </a:r>
            <a:endParaRPr lang="en-US" sz="12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opportunity.</a:t>
            </a:r>
            <a:endParaRPr lang="en-US" sz="1250" dirty="0"/>
          </a:p>
          <a:p>
            <a:pPr marL="0" indent="0">
              <a:lnSpc>
                <a:spcPts val="1650"/>
              </a:lnSpc>
              <a:buNone/>
            </a:pPr>
            <a:r>
              <a:rPr lang="en-US" sz="12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Define the reference architecture the market is converging on — before it is defined for us.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pic>
        <p:nvPicPr>
          <p:cNvPr id="12" name="Picture 11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PROPOSITION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ADSRA: sovereignty as an enterprise architecture capability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43000"/>
            <a:ext cx="11201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reference architecture enabling Australian organisations to use global cloud and AI platforms while retaining control over data, identity, cryptography, operations and AI — expressed as control domains, capabilities, reference patterns, a maturity model and measurable KRIs.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2057400"/>
          <a:ext cx="11201400" cy="3410712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Framework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provides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 not provide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TOGAF / ADM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Enterprise architecture method and content metamodel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sovereignty domain, controls or jurisdictional lens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SABSA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Business-attribute-driven security architecture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cloud/AI-era specific; no AU regulatory mapping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AWS / Azure Well-Architected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Workload-level design guidance per cloud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Single-vendor scope; not an enterprise operating model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ISM / Essential Eight (ASD)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Baseline cyber controls and hardening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Controls catalogue, not an architecture or investment logic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ADSRA (proposed)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Sovereignty control domains, 20 capabilities, maturity model, KRIs, AU regulatory mapping, AI sovereignty patterns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Method-neutral: designed to plug into TOGAF/SABSA practice</a:t>
                      </a:r>
                      <a:endParaRPr lang="en-US" sz="11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ED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pic>
        <p:nvPicPr>
          <p:cNvPr id="8" name="Picture 7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ORGANISING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Sovereignty sits above technology — not below 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1188720"/>
            <a:ext cx="8138160" cy="475488"/>
          </a:xfrm>
          <a:prstGeom prst="roundRect">
            <a:avLst>
              <a:gd name="adj" fmla="val 9615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2194560" y="1188720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STRATEGY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011680" y="1773936"/>
            <a:ext cx="8138160" cy="475488"/>
          </a:xfrm>
          <a:prstGeom prst="roundRect">
            <a:avLst>
              <a:gd name="adj" fmla="val 9615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2194560" y="1773936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&amp; LEGAL OBLIGATIONS   —   CPS 230 / CPS 234 · Privacy Act · SOCI · ISM · HCF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691640" y="2377440"/>
            <a:ext cx="8778240" cy="1600200"/>
          </a:xfrm>
          <a:prstGeom prst="roundRect">
            <a:avLst>
              <a:gd name="adj" fmla="val 4000"/>
            </a:avLst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2011680" y="2450592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SOVEREIGNTY CONTROL LAYER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286000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286000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70217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3370217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454434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454434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38651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5538651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622869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6622869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707086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07086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791303" y="2852928"/>
            <a:ext cx="1011065" cy="960120"/>
          </a:xfrm>
          <a:prstGeom prst="roundRect">
            <a:avLst>
              <a:gd name="adj" fmla="val 47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8791303" y="2852928"/>
            <a:ext cx="101106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011680" y="4114800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EBED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2194560" y="4114800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PLATFORMS   —   Applications · Integration · Data · AI · Analytics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011680" y="4791456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EBED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2194560" y="4791456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PLATFORMS   —   AWS · Azure · Google Cloud · Private Cloud · SaaS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011680" y="5468112"/>
            <a:ext cx="8138160" cy="566928"/>
          </a:xfrm>
          <a:prstGeom prst="roundRect">
            <a:avLst>
              <a:gd name="adj" fmla="val 8065"/>
            </a:avLst>
          </a:prstGeom>
          <a:solidFill>
            <a:srgbClr val="EBED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2194560" y="5468112"/>
            <a:ext cx="7772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INFRASTRUCTURE   —   Data centres · Networks · Endpoints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6172200"/>
            <a:ext cx="11201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workload below the line inherits the controls of the sovereignty layer — policy is enforced by platform, evidenced by telemetry, and governed like any other enterprise capability.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900" dirty="0"/>
          </a:p>
        </p:txBody>
      </p:sp>
      <p:pic>
        <p:nvPicPr>
          <p:cNvPr id="33" name="Picture 32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SEVEN SOVEREIGNTY PILLARS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Seven questions every board should be able to answer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04088" y="166420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704088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07592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22376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can legally compel access to our information?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64992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3566160" y="166420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3566160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169664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84448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is acting, from where, and with what privilege?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27064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6428232" y="166420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6428232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31736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CRYPTOGRAPHIC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controls the keys that control trust?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89136" y="146304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Shape 18"/>
          <p:cNvSpPr/>
          <p:nvPr/>
        </p:nvSpPr>
        <p:spPr>
          <a:xfrm>
            <a:off x="9290304" y="166420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9290304" y="166420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9893808" y="17373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OPERATIONAL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08592" y="233172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 administers production — and from which jurisdiction?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920240" y="384048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2121408" y="404164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2121408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2724912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139696" y="4709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do prompts, embeddings, inference and training occur?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4782312" y="384048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Shape 28"/>
          <p:cNvSpPr/>
          <p:nvPr/>
        </p:nvSpPr>
        <p:spPr>
          <a:xfrm>
            <a:off x="4983480" y="404164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4983480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1700" dirty="0"/>
          </a:p>
        </p:txBody>
      </p:sp>
      <p:sp>
        <p:nvSpPr>
          <p:cNvPr id="32" name="Text 30"/>
          <p:cNvSpPr/>
          <p:nvPr/>
        </p:nvSpPr>
        <p:spPr>
          <a:xfrm>
            <a:off x="5586984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001768" y="4709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compliance enforced by the platform, or by a policy PDF?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644384" y="3840480"/>
            <a:ext cx="2697480" cy="2148840"/>
          </a:xfrm>
          <a:prstGeom prst="roundRect">
            <a:avLst>
              <a:gd name="adj" fmla="val 2979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5" name="Shape 33"/>
          <p:cNvSpPr/>
          <p:nvPr/>
        </p:nvSpPr>
        <p:spPr>
          <a:xfrm>
            <a:off x="7845552" y="4041648"/>
            <a:ext cx="475488" cy="475488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6" name="Text 34"/>
          <p:cNvSpPr/>
          <p:nvPr/>
        </p:nvSpPr>
        <p:spPr>
          <a:xfrm>
            <a:off x="7845552" y="40416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7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8449056" y="4114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863840" y="4709160"/>
            <a:ext cx="2286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50"/>
              </a:lnSpc>
              <a:buNone/>
            </a:pPr>
            <a:r>
              <a:rPr lang="en-US" sz="11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we prove, audit and measure sovereignty — daily?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02920" y="617220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D5DA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pillar carries defined control objectives, reference patterns and measurable key risk indicators.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BE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900" dirty="0"/>
          </a:p>
        </p:txBody>
      </p:sp>
      <p:pic>
        <p:nvPicPr>
          <p:cNvPr id="42" name="Picture 41" descr="Getamazednow-AI-Icon-Monochrom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PILLARS 1–3 · CONTROL THE ASSET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Data, identity and cryptography: control before consumption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11880" cy="4892040"/>
          </a:xfrm>
          <a:prstGeom prst="roundRect">
            <a:avLst>
              <a:gd name="adj" fmla="val 177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DATA SOVEREIGNTY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with sovereignty tiers (Low → Critical)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Residency &amp; cross-border transfer controls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Tokenisation and data loss prevention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impact assessments in delivery lifecycle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31520" y="4983480"/>
            <a:ext cx="3154680" cy="0"/>
          </a:xfrm>
          <a:prstGeom prst="line">
            <a:avLst/>
          </a:prstGeom>
          <a:noFill/>
          <a:ln w="15875">
            <a:solidFill>
              <a:srgbClr val="2E7D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31520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drives everything: each tier receives different architectural treatment.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325112" y="1325880"/>
            <a:ext cx="3611880" cy="4892040"/>
          </a:xfrm>
          <a:prstGeom prst="roundRect">
            <a:avLst>
              <a:gd name="adj" fmla="val 177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4553712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· IDENTITY SOVEREIGNTY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553712" y="2148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Australian-controlled enterprise IdP &amp; federation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Trust: continuous verification, least privilege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MFA, conditional access, PIM/PAM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 governance &amp; recertification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53712" y="4983480"/>
            <a:ext cx="3154680" cy="0"/>
          </a:xfrm>
          <a:prstGeom prst="line">
            <a:avLst/>
          </a:prstGeom>
          <a:noFill/>
          <a:ln w="15875">
            <a:solidFill>
              <a:srgbClr val="2E7D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4553712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request answers: who, what, why, when, from where, at what risk score.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47304" y="1325880"/>
            <a:ext cx="3611880" cy="4892040"/>
          </a:xfrm>
          <a:prstGeom prst="roundRect">
            <a:avLst>
              <a:gd name="adj" fmla="val 177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375904" y="155448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· CRYPTOGRAPHIC SOVEREIGNTY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375904" y="2148840"/>
            <a:ext cx="32004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Customer-managed keys (CMK), BYOK / HYOK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HSM-backed roots of trust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Client-side encryption for critical tiers</a:t>
            </a:r>
            <a:endParaRPr lang="en-US" sz="1150" dirty="0"/>
          </a:p>
          <a:p>
            <a:pPr marL="152400" indent="-152400">
              <a:lnSpc>
                <a:spcPts val="15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rotation and crypto-agility (PQC-ready)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375904" y="4983480"/>
            <a:ext cx="3154680" cy="0"/>
          </a:xfrm>
          <a:prstGeom prst="line">
            <a:avLst/>
          </a:prstGeom>
          <a:noFill/>
          <a:ln w="15875">
            <a:solidFill>
              <a:srgbClr val="2E7DA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375904" y="5120640"/>
            <a:ext cx="3154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Encryption is the last defence against jurisdictional uncertainty — if you hold the keys.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900" dirty="0"/>
          </a:p>
        </p:txBody>
      </p:sp>
      <p:pic>
        <p:nvPicPr>
          <p:cNvPr id="21" name="Picture 20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PILLARS 4–7 · CONTROL THE OPERATION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Operations, AI, governance and observability: control in motion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85800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· OPERATIONAL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85800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operations, SOC &amp; incident response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Administrative separation of duties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Privileged session recording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Jurisdiction-aware break-glass</a:t>
            </a:r>
            <a:endParaRPr lang="en-US" sz="1080" dirty="0"/>
          </a:p>
        </p:txBody>
      </p:sp>
      <p:sp>
        <p:nvSpPr>
          <p:cNvPr id="7" name="Shape 5"/>
          <p:cNvSpPr/>
          <p:nvPr/>
        </p:nvSpPr>
        <p:spPr>
          <a:xfrm>
            <a:off x="3364992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3547872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· AI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547872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Prompt, embedding, inference &amp; training sovereignty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gateway + approved model registry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governance &amp; PII detection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validation &amp; audit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Decision assurance: impact assessment, explainability, human oversight</a:t>
            </a:r>
            <a:endParaRPr lang="en-US" sz="1080" dirty="0"/>
          </a:p>
        </p:txBody>
      </p:sp>
      <p:sp>
        <p:nvSpPr>
          <p:cNvPr id="10" name="Shape 8"/>
          <p:cNvSpPr/>
          <p:nvPr/>
        </p:nvSpPr>
        <p:spPr>
          <a:xfrm>
            <a:off x="6227064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6409944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· GOVERNANCE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9944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Policy-as-code (Azure Policy, SCPs, OPA)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IaC validation in pipelines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&amp; compliance guardrails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deployment inherits compliance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Aligned to AS ISO/IEC 42001 (AI management system)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089136" y="1325880"/>
            <a:ext cx="2697480" cy="3977640"/>
          </a:xfrm>
          <a:prstGeom prst="roundRect">
            <a:avLst>
              <a:gd name="adj" fmla="val 2373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9272016" y="1536192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 · OBSERVABILITY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272016" y="2103120"/>
            <a:ext cx="23774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Central logging, SIEM, UEBA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observability &amp; model telemetry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audit trails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dashboards &amp; regulatory reporting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5486400"/>
            <a:ext cx="11201400" cy="777240"/>
          </a:xfrm>
          <a:prstGeom prst="roundRect">
            <a:avLst>
              <a:gd name="adj" fmla="val 8235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548640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 is the underdeveloped pillar — </a:t>
            </a:r>
            <a:r>
              <a:rPr lang="en-US" sz="12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you cannot continuously measure sovereignty, you cannot claim it. This is where AI observability practice extends naturally into sovereignty assurance.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900" dirty="0"/>
          </a:p>
        </p:txBody>
      </p:sp>
      <p:pic>
        <p:nvPicPr>
          <p:cNvPr id="20" name="Picture 19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WORKED EXAMPLE · NATIONAL RETAILER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everything needs a fortress: classification prices the control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11201400" cy="31546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Data asset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Sovereignty tier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Architectural treatment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36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Product catalogue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  Low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Global CDN, provider-managed encryption, standard logging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Pricing &amp; promotions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  Medium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AU-region hosting, CMK optional, DLP monitoring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Loyalty behaviour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★★★★  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 residency, CMK, tokenised identifiers, PIA required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Customer profiles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★★★★  High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AU residency, CMK, conditional access, ADM-transparency review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Payment cards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★★★★★  Critical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A363B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Tokenised (PCI DSS), HSM-backed keys, AU SOC, client-side encryption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64008" marR="64008" marT="64008" marB="64008" anchor="ctr">
                    <a:lnL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BE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502920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3"/>
          <p:cNvSpPr/>
          <p:nvPr/>
        </p:nvSpPr>
        <p:spPr>
          <a:xfrm>
            <a:off x="731520" y="5029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Checkout (Critical): </a:t>
            </a: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Australia East, customer-managed keys, tokenised payments, Australian SOC.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217920" y="5029200"/>
            <a:ext cx="5486400" cy="1234440"/>
          </a:xfrm>
          <a:prstGeom prst="roundRect">
            <a:avLst>
              <a:gd name="adj" fmla="val 5185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/>
          <p:nvPr/>
        </p:nvSpPr>
        <p:spPr>
          <a:xfrm>
            <a:off x="6446520" y="5029200"/>
            <a:ext cx="5074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Catalogue (Low): </a:t>
            </a: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runs globally on public CDN — no personal information, no sovereignty premium paid.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4" name="Text 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900" dirty="0"/>
          </a:p>
        </p:txBody>
      </p:sp>
      <p:pic>
        <p:nvPicPr>
          <p:cNvPr id="11" name="Picture 10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INDUSTRY LENSES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same architecture, four regulatory postures — with full Utilities &amp; Education blueprints in the Technical Reference (§10.5–10.6)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933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CPS 230 critical operations &amp; tolerance levels; CPS 234 information security; 24-hour notification of tolerance breaches, 72-hour for material incidents. Sovereignty tiers map directly to the critical-operations register.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46520" y="162763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208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FINANCIAL SERVICES &amp; SUPER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3952" y="19933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Material service provider registers, exit and contingency plans, fourth-party visibility. Sovereignty KRIs give Risk Committees a quantified view of provider concentration and jurisdictional exposure.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409651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RETAIL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tort and tiered penalties raise the cost of loyalty and profile data breaches; ADM transparency (Dec 2026) constrains pricing and personalisation AI. PCI tokenisation becomes the Critical-tier pattern.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409651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HEALTHCARE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Health Records Act requires records to be held and processed in Australia; SOCI covers the healthcare sector; sensitive health data sits at Critical tier with client-side encryption and AU-only AI inference.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900" dirty="0"/>
          </a:p>
        </p:txBody>
      </p:sp>
      <p:pic>
        <p:nvPicPr>
          <p:cNvPr id="22" name="Picture 21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PUBLIC-SECTOR LENSES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Utilities &amp; education — where regulation bites hardest, and control inheritance pays back fastest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Shape 3"/>
          <p:cNvSpPr/>
          <p:nvPr/>
        </p:nvSpPr>
        <p:spPr>
          <a:xfrm>
            <a:off x="731520" y="162763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10058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UTILITIES · OBLIGATIONS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8952" y="19933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SOCI Act — energy, water, gas: CIRMP duties and mandatory incident reporting. ISM / Essential Eight across the OT/IT boundary. Sovereignty tiers map to the critical-infrastructure register, so tolerance and reporting duties inherit automatically.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6217920" y="137160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446520" y="162763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6720840" y="150876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UTILITIES · AI ASSURANCE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73952" y="199339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Demand-forecasting, outage and asset-failure models route via the AI gateway with impact assessment, registry pinning and human oversight. No model directly controls OT actuation — recommendations stay advisory to the control room.</a:t>
            </a:r>
            <a:endParaRPr lang="en-US" sz="1130" dirty="0"/>
          </a:p>
        </p:txBody>
      </p:sp>
      <p:sp>
        <p:nvSpPr>
          <p:cNvPr id="12" name="Shape 10"/>
          <p:cNvSpPr/>
          <p:nvPr/>
        </p:nvSpPr>
        <p:spPr>
          <a:xfrm>
            <a:off x="502920" y="384048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731520" y="409651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1005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· OBLIGATIONS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Act — student personal and sensitive data. State frameworks (e.g. NSW AI Assurance Framework, 2022) and the National assurance framework for public institutions. Child-safety duties where learners are minors; student, assessment and research data sit at the top tiers.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486400" cy="2240280"/>
          </a:xfrm>
          <a:prstGeom prst="roundRect">
            <a:avLst>
              <a:gd name="adj" fmla="val 2857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6446520" y="4096512"/>
            <a:ext cx="146304" cy="14630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6720840" y="3977640"/>
            <a:ext cx="4754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EDUCATION · AI ASSURANCE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473952" y="4462272"/>
            <a:ext cx="502920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Tutoring, marking and admissions copilots run on governed RAG with human oversight and a documented contestability path. Automated marking never issues a final grade without human ratification; ADM-transparency disclosures apply from Dec 2026.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900"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PILLAR 5 IN PRACTICE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sovereignty: the model is only one component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828800"/>
            <a:ext cx="1389888" cy="1234440"/>
          </a:xfrm>
          <a:prstGeom prst="chevron">
            <a:avLst/>
          </a:prstGeom>
          <a:solidFill>
            <a:srgbClr val="EBEDE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126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/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Channel</a:t>
            </a:r>
            <a:endParaRPr lang="en-US" sz="930" dirty="0"/>
          </a:p>
        </p:txBody>
      </p:sp>
      <p:sp>
        <p:nvSpPr>
          <p:cNvPr id="6" name="Shape 4"/>
          <p:cNvSpPr/>
          <p:nvPr/>
        </p:nvSpPr>
        <p:spPr>
          <a:xfrm>
            <a:off x="1874520" y="1828800"/>
            <a:ext cx="1389888" cy="1234440"/>
          </a:xfrm>
          <a:prstGeom prst="chevron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19842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Gateway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3246120" y="1828800"/>
            <a:ext cx="1389888" cy="1234440"/>
          </a:xfrm>
          <a:prstGeom prst="chevron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3558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4617720" y="1828800"/>
            <a:ext cx="1389888" cy="1234440"/>
          </a:xfrm>
          <a:prstGeom prst="chevron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7274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PII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5989320" y="1828800"/>
            <a:ext cx="1389888" cy="1234440"/>
          </a:xfrm>
          <a:prstGeom prst="chevron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0990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7360920" y="1828800"/>
            <a:ext cx="1389888" cy="1234440"/>
          </a:xfrm>
          <a:prstGeom prst="chevron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74706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Gateway +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Registry</a:t>
            </a:r>
            <a:endParaRPr lang="en-US" sz="930" dirty="0"/>
          </a:p>
        </p:txBody>
      </p:sp>
      <p:sp>
        <p:nvSpPr>
          <p:cNvPr id="16" name="Shape 14"/>
          <p:cNvSpPr/>
          <p:nvPr/>
        </p:nvSpPr>
        <p:spPr>
          <a:xfrm>
            <a:off x="8732520" y="1828800"/>
            <a:ext cx="1389888" cy="1234440"/>
          </a:xfrm>
          <a:prstGeom prst="chevron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8422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Approved Model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(AU region)</a:t>
            </a:r>
            <a:endParaRPr lang="en-US" sz="930" dirty="0"/>
          </a:p>
        </p:txBody>
      </p:sp>
      <p:sp>
        <p:nvSpPr>
          <p:cNvPr id="18" name="Shape 16"/>
          <p:cNvSpPr/>
          <p:nvPr/>
        </p:nvSpPr>
        <p:spPr>
          <a:xfrm>
            <a:off x="10104120" y="1828800"/>
            <a:ext cx="1389888" cy="1234440"/>
          </a:xfrm>
          <a:prstGeom prst="chevron">
            <a:avLst/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10213848" y="1828800"/>
            <a:ext cx="122529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</a:t>
            </a:r>
            <a:endParaRPr lang="en-US" sz="930" dirty="0"/>
          </a:p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</a:t>
            </a:r>
            <a:endParaRPr lang="en-US" sz="930" dirty="0"/>
          </a:p>
        </p:txBody>
      </p:sp>
      <p:sp>
        <p:nvSpPr>
          <p:cNvPr id="20" name="Shape 18"/>
          <p:cNvSpPr/>
          <p:nvPr/>
        </p:nvSpPr>
        <p:spPr>
          <a:xfrm>
            <a:off x="502920" y="3520440"/>
            <a:ext cx="11201400" cy="868680"/>
          </a:xfrm>
          <a:prstGeom prst="roundRect">
            <a:avLst>
              <a:gd name="adj" fmla="val 7368"/>
            </a:avLst>
          </a:prstGeom>
          <a:solidFill>
            <a:srgbClr val="F6F7F7"/>
          </a:solidFill>
          <a:ln w="9525">
            <a:solidFill>
              <a:srgbClr val="6B797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777240" y="35204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IMMUTABLE AUDIT &amp; AI OBSERVABILITY  —  prompts, retrievals, model versions, decisions, tokens, cost, jurisdiction of inference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103120" y="3108960"/>
            <a:ext cx="0" cy="411480"/>
          </a:xfrm>
          <a:prstGeom prst="line">
            <a:avLst/>
          </a:prstGeom>
          <a:noFill/>
          <a:ln w="25400">
            <a:solidFill>
              <a:srgbClr val="2E7DA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3" name="Shape 21"/>
          <p:cNvSpPr/>
          <p:nvPr/>
        </p:nvSpPr>
        <p:spPr>
          <a:xfrm>
            <a:off x="4937760" y="3108960"/>
            <a:ext cx="0" cy="411480"/>
          </a:xfrm>
          <a:prstGeom prst="line">
            <a:avLst/>
          </a:prstGeom>
          <a:noFill/>
          <a:ln w="25400">
            <a:solidFill>
              <a:srgbClr val="2E7DA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7772400" y="3108960"/>
            <a:ext cx="0" cy="411480"/>
          </a:xfrm>
          <a:prstGeom prst="line">
            <a:avLst/>
          </a:prstGeom>
          <a:noFill/>
          <a:ln w="25400">
            <a:solidFill>
              <a:srgbClr val="2E7DA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10424160" y="3108960"/>
            <a:ext cx="0" cy="411480"/>
          </a:xfrm>
          <a:prstGeom prst="line">
            <a:avLst/>
          </a:prstGeom>
          <a:noFill/>
          <a:ln w="25400">
            <a:solidFill>
              <a:srgbClr val="2E7DA6"/>
            </a:solidFill>
            <a:prstDash val="solid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" name="Shape 24"/>
          <p:cNvSpPr/>
          <p:nvPr/>
        </p:nvSpPr>
        <p:spPr>
          <a:xfrm>
            <a:off x="502920" y="4773168"/>
            <a:ext cx="128016" cy="12801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777240" y="46634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Prompt sovereignty — </a:t>
            </a: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raw prompts leave the enterprise boundary unfiltered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6217920" y="4773168"/>
            <a:ext cx="128016" cy="12801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9" name="Text 27"/>
          <p:cNvSpPr/>
          <p:nvPr/>
        </p:nvSpPr>
        <p:spPr>
          <a:xfrm>
            <a:off x="6492240" y="4663440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 &amp; RAG sovereignty — </a:t>
            </a: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stores and retrieval corpora remain in-region, access-governed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02920" y="5614416"/>
            <a:ext cx="128016" cy="12801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1" name="Text 29"/>
          <p:cNvSpPr/>
          <p:nvPr/>
        </p:nvSpPr>
        <p:spPr>
          <a:xfrm>
            <a:off x="777240" y="55046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Inference &amp; training sovereignty — </a:t>
            </a: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registry pins approved models, versions and regions — including an Australian sovereign-model option where in-region frontier access lags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5614416"/>
            <a:ext cx="128016" cy="128016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3" name="Text 31"/>
          <p:cNvSpPr/>
          <p:nvPr/>
        </p:nvSpPr>
        <p:spPr>
          <a:xfrm>
            <a:off x="6492240" y="5504688"/>
            <a:ext cx="5303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Output governance — </a:t>
            </a:r>
            <a:r>
              <a:rPr lang="en-US" sz="115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Responses validated, watermarked where required, and evidenced. Decision assurance adds impact assessment, explainability and contestability for automated decisions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900" dirty="0"/>
          </a:p>
        </p:txBody>
      </p:sp>
      <p:pic>
        <p:nvPicPr>
          <p:cNvPr id="36" name="Picture 35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REFERENCE CAPABILITY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Twenty capabilities a Board can fund, measure and govern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527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704088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Classification · Residency · Privacy Engineering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2587752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04088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IDENTITY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04088" y="3044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IAM · Privileged Access (PAM) · Federation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02920" y="3758184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04088" y="3867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CRYPTO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04088" y="4215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Management · HSM Services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02920" y="4928616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704088" y="5038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OPERATIONS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04088" y="5385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Operations · Incident Response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6419088" y="15270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19088" y="1874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Gateway · Prompt Management · RAG Governance · Model Registry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17920" y="2587752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6419088" y="2697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GOVERNANCE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19088" y="3044952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Policy-as-Code · Compliance Automation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17920" y="3758184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419088" y="386791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OBSERVABILITY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9088" y="4215384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Telemetry · Immutable Audit · AI Monitoring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217920" y="4928616"/>
            <a:ext cx="5486400" cy="1005840"/>
          </a:xfrm>
          <a:prstGeom prst="roundRect">
            <a:avLst>
              <a:gd name="adj" fmla="val 6364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/>
          <p:nvPr/>
        </p:nvSpPr>
        <p:spPr>
          <a:xfrm>
            <a:off x="6419088" y="5038344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19088" y="5385816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Assurance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02920" y="621792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capability is defined with control objectives (ADSRA-XX-nn), owner, reference pattern, target maturity and KRIs — detailed in the Technical Reference.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900" dirty="0"/>
          </a:p>
        </p:txBody>
      </p:sp>
      <p:pic>
        <p:nvPicPr>
          <p:cNvPr id="31" name="Picture 30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MATURITY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cloud adoption to autonomous sovereignty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4297680"/>
            <a:ext cx="1691640" cy="822960"/>
          </a:xfrm>
          <a:prstGeom prst="roundRect">
            <a:avLst>
              <a:gd name="adj" fmla="val 4444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640080" y="437083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66928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Adoption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87168" y="3730752"/>
            <a:ext cx="1691640" cy="1389888"/>
          </a:xfrm>
          <a:prstGeom prst="roundRect">
            <a:avLst>
              <a:gd name="adj" fmla="val 263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2487168" y="3803904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14016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Security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34256" y="3163824"/>
            <a:ext cx="1691640" cy="1956816"/>
          </a:xfrm>
          <a:prstGeom prst="roundRect">
            <a:avLst>
              <a:gd name="adj" fmla="val 216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4334256" y="3236976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261104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Governance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81344" y="2596896"/>
            <a:ext cx="1691640" cy="2523744"/>
          </a:xfrm>
          <a:prstGeom prst="roundRect">
            <a:avLst>
              <a:gd name="adj" fmla="val 2162"/>
            </a:avLst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6181344" y="2670048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08192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Sovereignty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028432" y="2029968"/>
            <a:ext cx="1691640" cy="3090672"/>
          </a:xfrm>
          <a:prstGeom prst="roundRect">
            <a:avLst>
              <a:gd name="adj" fmla="val 2162"/>
            </a:avLst>
          </a:prstGeom>
          <a:solidFill>
            <a:srgbClr val="A85A1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8028432" y="2103120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7955280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Sovereignty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875520" y="1463040"/>
            <a:ext cx="1691640" cy="3657600"/>
          </a:xfrm>
          <a:prstGeom prst="roundRect">
            <a:avLst>
              <a:gd name="adj" fmla="val 2162"/>
            </a:avLst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9875520" y="1536192"/>
            <a:ext cx="1691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802368" y="5230368"/>
            <a:ext cx="183794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Autonomous Sovereignty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21208" y="1024128"/>
            <a:ext cx="5029200" cy="1600200"/>
          </a:xfrm>
          <a:prstGeom prst="roundRect">
            <a:avLst>
              <a:gd name="adj" fmla="val 4000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9808" y="1088136"/>
            <a:ext cx="4617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10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6 — the new contribution. </a:t>
            </a:r>
            <a:r>
              <a:rPr lang="en-US" sz="110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continuously ask: is every workload compliant? Has data crossed a jurisdiction? Is a key nearing expiry? Has inference moved offshore? The platform assesses and remediates sovereignty — continuously.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Australian enterprises operate at Levels 2–3 today. ADSRA targets 4–5 within 36 months.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</a:t>
            </a:r>
            <a:endParaRPr lang="en-US" sz="900" dirty="0"/>
          </a:p>
        </p:txBody>
      </p:sp>
      <p:pic>
        <p:nvPicPr>
          <p:cNvPr id="27" name="Picture 26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VALUE, INVESTMENT AND RETURNS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Sovereignty priced as risk reduction, speed and trust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426464"/>
            <a:ext cx="329184" cy="32918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02920" y="14264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Penalty &amp; tort exposure avoided.  </a:t>
            </a: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penalties now reach the greater of $50m, 3× benefit, or 30% of adjusted turnover; the statutory tort adds class-action-style exposure per incident.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502920" y="2615184"/>
            <a:ext cx="329184" cy="32918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502920" y="26151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Regulatory speed.  </a:t>
            </a: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Pre-approved sovereignty patterns cut architecture and risk-approval cycle times for new cloud and AI workloads.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3803904"/>
            <a:ext cx="329184" cy="32918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02920" y="38039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374904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Concentration risk visibility.  </a:t>
            </a: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CPS 230 provider registers plus sovereignty KRIs give Risk Committees a quantified exit and substitution posture.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502920" y="4992624"/>
            <a:ext cx="329184" cy="329184"/>
          </a:xfrm>
          <a:prstGeom prst="ellipse">
            <a:avLst/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4" name="Text 12"/>
          <p:cNvSpPr/>
          <p:nvPr/>
        </p:nvSpPr>
        <p:spPr>
          <a:xfrm>
            <a:off x="502920" y="49926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93776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8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Licence to deploy AI.  </a:t>
            </a: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Evidenced AI sovereignty (gateway, registry, audit) is becoming the precondition for board approval of customer-facing AI.</a:t>
            </a:r>
            <a:endParaRPr lang="en-US" sz="1180" dirty="0"/>
          </a:p>
        </p:txBody>
      </p:sp>
      <p:sp>
        <p:nvSpPr>
          <p:cNvPr id="16" name="Shape 14"/>
          <p:cNvSpPr/>
          <p:nvPr/>
        </p:nvSpPr>
        <p:spPr>
          <a:xfrm>
            <a:off x="6858000" y="1325880"/>
            <a:ext cx="4846320" cy="4846320"/>
          </a:xfrm>
          <a:prstGeom prst="roundRect">
            <a:avLst>
              <a:gd name="adj" fmla="val 1321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132320" y="15361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THAT MATTER (KRIs)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132320" y="2011680"/>
            <a:ext cx="43434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Critical/High data under customer-managed keys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privileged sessions administered from Australia (and recorded)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AI inference executed in-region via the LLM gateway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deployments passing policy-as-code gates first time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time to detect a cross-jurisdiction data movement</a:t>
            </a:r>
            <a:endParaRPr lang="en-US" sz="1130" dirty="0"/>
          </a:p>
          <a:p>
            <a:pPr marL="152400" indent="-152400">
              <a:lnSpc>
                <a:spcPts val="1500"/>
              </a:lnSpc>
              <a:spcAft>
                <a:spcPts val="900"/>
              </a:spcAft>
              <a:buSzPct val="100000"/>
              <a:buChar char="•"/>
            </a:pPr>
            <a:r>
              <a:rPr lang="en-US" sz="113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% critical operations with tested exit / substitution plans</a:t>
            </a:r>
            <a:endParaRPr lang="en-US" sz="1130" dirty="0"/>
          </a:p>
        </p:txBody>
      </p:sp>
      <p:sp>
        <p:nvSpPr>
          <p:cNvPr id="19" name="Text 17"/>
          <p:cNvSpPr/>
          <p:nvPr/>
        </p:nvSpPr>
        <p:spPr>
          <a:xfrm>
            <a:off x="7132320" y="5394960"/>
            <a:ext cx="4343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050" i="1" dirty="0">
                <a:solidFill>
                  <a:srgbClr val="D5DA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Reported quarterly to the Architecture Board and Risk Committee — trend, target, tolerance.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900" dirty="0"/>
          </a:p>
        </p:txBody>
      </p:sp>
      <p:pic>
        <p:nvPicPr>
          <p:cNvPr id="22" name="Picture 21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HONEST LEDGER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Sovereignty is not free: the trade-offs, stated plainly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7724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A02E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COSTS &amp; RISKS OF DOING THIS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 controls (HYOK, client-side encryption, AU-only ops) add cost and can break native cloud features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In-region AI can lag frontier model availability — a real capability trade — narrowing as Australian sovereign model and compute options mature [Position]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Over-classification taxes low-risk workloads and slows delivery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Skills scarcity: policy-as-code and AI governance engineering talent is thin</a:t>
            </a:r>
            <a:endParaRPr lang="en-US" sz="118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152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92240" y="157276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2C664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RISKS OF NOT DOING THIS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492240" y="2057400"/>
            <a:ext cx="498348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Unpriced jurisdictional exposure across data, keys and AI supply chains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CPS 230 / SOCI findings, remediation programs, and potential capital add-ons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tort and tiered-penalty exposure concentrated in unclassified data estates</a:t>
            </a:r>
            <a:endParaRPr lang="en-US" sz="1180" dirty="0"/>
          </a:p>
          <a:p>
            <a:pPr marL="152400" indent="-152400">
              <a:lnSpc>
                <a:spcPts val="1550"/>
              </a:lnSpc>
              <a:spcAft>
                <a:spcPts val="1000"/>
              </a:spcAft>
              <a:buSzPct val="100000"/>
              <a:buChar char="•"/>
            </a:pPr>
            <a:r>
              <a:rPr lang="en-US" sz="11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adoption stalls — every use case re-litigates risk from first principles</a:t>
            </a:r>
            <a:endParaRPr lang="en-US" sz="1180" dirty="0"/>
          </a:p>
        </p:txBody>
      </p:sp>
      <p:sp>
        <p:nvSpPr>
          <p:cNvPr id="10" name="Shape 8"/>
          <p:cNvSpPr/>
          <p:nvPr/>
        </p:nvSpPr>
        <p:spPr>
          <a:xfrm>
            <a:off x="502920" y="5760720"/>
            <a:ext cx="11201400" cy="640080"/>
          </a:xfrm>
          <a:prstGeom prst="roundRect">
            <a:avLst>
              <a:gd name="adj" fmla="val 10000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77724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managed position: </a:t>
            </a:r>
            <a:r>
              <a:rPr lang="en-US" sz="125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tier the estate, pay the sovereignty premium only where classification demands it, and measure the residual risk you consciously accept.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900" dirty="0"/>
          </a:p>
        </p:txBody>
      </p:sp>
      <p:pic>
        <p:nvPicPr>
          <p:cNvPr id="14" name="Picture 13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 AND DECISION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Three horizons to Level 4–5 — and what we ask of this Board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704088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1 · 0–6 MONTHS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04088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Foundations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704088" y="23774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classification of Critical/High data estates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Baseline maturity assessment against the 20 capabilities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 up LLM gateway + model registry for all AI pilots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KRIs on the Risk Committee dashboard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4325112" y="132588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F6F7F7"/>
          </a:solidFill>
          <a:ln w="9525">
            <a:solidFill>
              <a:srgbClr val="EBEDE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4526280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2 · 6–18 MONTHS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26280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2A363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Enforcement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3774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CMK/HSM coverage for Critical tier; policy-as-code gates in all pipelines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 operations &amp; privileged session recording for critical ops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RAG governance and PII detection in production AI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/ substitution plans tested for material providers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8147304" y="1325880"/>
            <a:ext cx="3611880" cy="4160520"/>
          </a:xfrm>
          <a:prstGeom prst="roundRect">
            <a:avLst>
              <a:gd name="adj" fmla="val 1772"/>
            </a:avLst>
          </a:prstGeom>
          <a:solidFill>
            <a:srgbClr val="2A363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8348472" y="1508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HORIZON 3 · 18–36 MONTHS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8348472" y="18288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Assurance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348472" y="2377440"/>
            <a:ext cx="3246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sovereignty assurance (Level 5 → 6 pilots)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Agentic compliance monitoring across clouds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Sovereignty posture in annual report &amp; regulator engagement</a:t>
            </a:r>
            <a:endParaRPr lang="en-US" sz="1080" dirty="0"/>
          </a:p>
          <a:p>
            <a:pPr marL="127000" indent="-127000">
              <a:lnSpc>
                <a:spcPts val="1400"/>
              </a:lnSpc>
              <a:spcAft>
                <a:spcPts val="8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Publish and iterate the reference architecture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502920" y="5669280"/>
            <a:ext cx="11201400" cy="731520"/>
          </a:xfrm>
          <a:prstGeom prst="roundRect">
            <a:avLst>
              <a:gd name="adj" fmla="val 8750"/>
            </a:avLst>
          </a:prstGeom>
          <a:solidFill>
            <a:srgbClr val="2E7DA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56692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ASK:  </a:t>
            </a:r>
            <a:r>
              <a:rPr lang="en-US" sz="1300" dirty="0">
                <a:solidFill>
                  <a:srgbClr val="2A363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endorse ADSRA as the enterprise sovereignty reference; fund Horizon 1; appoint an accountable executive owner; receive sovereignty KRIs quarterly.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97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900" dirty="0"/>
          </a:p>
        </p:txBody>
      </p:sp>
      <p:pic>
        <p:nvPicPr>
          <p:cNvPr id="20" name="Picture 19" descr="Getamazednow-AI-Icon-Monochrome-In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A36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208" y="731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2E7DA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SOURCES &amp; FURTHER READING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292608"/>
            <a:ext cx="11155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34440"/>
            <a:ext cx="1120140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APRA, Prudential Standard CPS 230 Operational Risk Management (in force 1 Jul 2025; targeted amendments Apr 2026) and CPG 230.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APRA, Prudential Standard CPS 234 Information Security (2019).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Act 1988 (Cth); Privacy and Other Legislation Amendment Act 2024 (Cth) — assent 10 Dec 2024; statutory tort by Jun 2025; APP 1.7–1.9 ADM transparency from 10 Dec 2026.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Privacy Legislation Amendment (Enforcement and Other Measures) Act 2022 (Cth) — penalty regime.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of Critical Infrastructure Act 2018 (Cth) and CIRMP Rules — 11 sectors incl. financial services, healthcare, energy, data storage.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ASD/ACSC, Information Security Manual (ISM) and Essential Eight; IRAP assessment program.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DTA / Dept of Home Affairs, Hosting Certification Framework — Certified Strategic / Certified Assured (applies to new contracts from 30 Jun 2022).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DISR / National AI Centre — Voluntary AI Safety Standard (2024); Guidance for AI Adoption (Oct 2025); National AI Plan (Dec 2025); Australian AI Safety Institute (2026).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My Health Records Act 2012 (Cth) — Australian data-handling requirements for My Health Record information.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Clarifying Lawful Overseas Use of Data (CLOUD) Act 2018 (US) — extraterritorial production obligations on US providers.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ISO/IEC 42001:2023 AI Management Systems; NIST AI Risk Management Framework 1.0.</a:t>
            </a:r>
            <a:endParaRPr lang="en-US" sz="1080" dirty="0"/>
          </a:p>
          <a:p>
            <a:pPr marL="152400" indent="-152400">
              <a:lnSpc>
                <a:spcPts val="1400"/>
              </a:lnSpc>
              <a:spcAft>
                <a:spcPts val="700"/>
              </a:spcAft>
              <a:buSzPct val="100000"/>
              <a:buChar char="•"/>
            </a:pPr>
            <a:r>
              <a:rPr lang="en-US" sz="1080" dirty="0">
                <a:solidFill>
                  <a:srgbClr val="EBEDE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Australian, state and territory governments, National framework for the assurance of artificial intelligence in government (v1.0, 21 June 2024), based on Australia's AI Ethics Principles (DISR 2019); AS ISO/IEC 23894:2023; AS ISO/IEC 38507:2022.</a:t>
            </a:r>
            <a:endParaRPr lang="en-US" sz="1080" dirty="0"/>
          </a:p>
        </p:txBody>
      </p:sp>
      <p:sp>
        <p:nvSpPr>
          <p:cNvPr id="5" name="Text 3"/>
          <p:cNvSpPr/>
          <p:nvPr/>
        </p:nvSpPr>
        <p:spPr>
          <a:xfrm>
            <a:off x="502920" y="6217920"/>
            <a:ext cx="11201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D5DA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citations, URLs and an evidence register appear in the ADSRA Technical Reference (companion document).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77240" y="651052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B7BE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Getamazednow AI  ·  A Getamazednow Company  ·  Executive Briefing — Draft v0.2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1430000" y="651052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B7BEC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900" dirty="0"/>
          </a:p>
        </p:txBody>
      </p:sp>
      <p:pic>
        <p:nvPicPr>
          <p:cNvPr id="8" name="Picture 7" descr="Getamazednow-AI-Icon-Monochrome-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6496812"/>
            <a:ext cx="228112" cy="1554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Inter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Inter"/>
        <a:font script="Hebr" typeface="Inter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Inter"/>
        <a:font script="Uigh" typeface="Microsoft Uighur"/>
        <a:font script="Geor" typeface="Sylfaen"/>
        <a:font script="Armn" typeface="Inter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2699</Words>
  <Application>Microsoft Macintosh PowerPoint</Application>
  <PresentationFormat>Widescreen</PresentationFormat>
  <Paragraphs>352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Inter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Duane Gomes</cp:lastModifiedBy>
  <cp:revision>2</cp:revision>
  <dcterms:created xsi:type="dcterms:W3CDTF">2026-07-12T22:13:45Z</dcterms:created>
  <dcterms:modified xsi:type="dcterms:W3CDTF">2026-07-13T12:19:46Z</dcterms:modified>
</cp:coreProperties>
</file>