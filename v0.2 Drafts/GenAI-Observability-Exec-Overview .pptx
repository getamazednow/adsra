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49"/>
    <p:restoredTop sz="94643"/>
  </p:normalViewPr>
  <p:slideViewPr>
    <p:cSldViewPr snapToGrid="0" snapToObjects="1">
      <p:cViewPr varScale="1">
        <p:scale>
          <a:sx n="204" d="100"/>
          <a:sy n="204" d="100"/>
        </p:scale>
        <p:origin x="486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Poppins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Poppins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Poppins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Poppins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Poppins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Poppi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Poppi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Poppi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Poppi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Picture 900" descr="GenAIObsPPT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79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9659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5FA8CC"/>
                </a:solidFill>
                <a:latin typeface="Calibri"/>
              </a:rPr>
              <a:t>MOCK / PORTFOLIO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96012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GenAI Project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8412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C7D3D8"/>
                </a:solidFill>
                <a:latin typeface="Calibri"/>
              </a:rPr>
              <a:t>A reference architecture and demo dashboard for observing agentic Gen AI workflows in production — built for architecture-board, risk-committee and Community of Practice review ahead of a real Datadog implementation.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59" y="5074920"/>
            <a:ext cx="5014169" cy="449058"/>
          </a:xfrm>
          <a:prstGeom prst="roundRect">
            <a:avLst>
              <a:gd name="adj" fmla="val 50000"/>
            </a:avLst>
          </a:prstGeom>
          <a:solidFill>
            <a:srgbClr val="3F4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5207724"/>
            <a:ext cx="5227111" cy="1915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 dirty="0">
                <a:solidFill>
                  <a:srgbClr val="E3A253"/>
                </a:solidFill>
                <a:latin typeface="Calibri"/>
              </a:rPr>
              <a:t>MOCK / SYNTHETIC DATA  —  NOT CONNECTED TO ANY LIVE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093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7BEC2"/>
                </a:solidFill>
                <a:latin typeface="Calibri"/>
              </a:rPr>
              <a:t>Executive Overview  |  2 July 2026</a:t>
            </a:r>
          </a:p>
        </p:txBody>
      </p:sp>
      <p:pic>
        <p:nvPicPr>
          <p:cNvPr id="902" name="Picture 901" descr="keyline_sig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33" y="182880"/>
            <a:ext cx="1250098" cy="1250098"/>
          </a:xfrm>
          <a:prstGeom prst="rect">
            <a:avLst/>
          </a:prstGeom>
        </p:spPr>
      </p:pic>
      <p:sp>
        <p:nvSpPr>
          <p:cNvPr id="903" name="TextBox 902"/>
          <p:cNvSpPr txBox="1"/>
          <p:nvPr/>
        </p:nvSpPr>
        <p:spPr>
          <a:xfrm>
            <a:off x="1847088" y="585216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oppins"/>
              </a:rPr>
              <a:t>Getamazednow AI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1847088" y="96012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A8A17B"/>
                </a:solidFill>
                <a:latin typeface="Inter"/>
              </a:rPr>
              <a:t>A Getamazednow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What we'll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02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Executive Overview  |  MOCK / SYNTHETIC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6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058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5FA8CC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1856232"/>
            <a:ext cx="9326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A363B"/>
                </a:solidFill>
                <a:latin typeface="Calibri"/>
              </a:rPr>
              <a:t>What this demo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2267712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45E63"/>
                </a:solidFill>
                <a:latin typeface="Calibri"/>
              </a:rPr>
              <a:t>The problem it solves, the scenario, the headline numbers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3464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6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10058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5FA8CC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20" y="2953512"/>
            <a:ext cx="9326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A363B"/>
                </a:solidFill>
                <a:latin typeface="Calibri"/>
              </a:rPr>
              <a:t>How to use the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3364992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45E63"/>
                </a:solidFill>
                <a:latin typeface="Calibri"/>
              </a:rPr>
              <a:t>A 7-tab tour built for a live walkthrough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6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931920"/>
            <a:ext cx="10058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5FA8CC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20" y="4050792"/>
            <a:ext cx="9326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A363B"/>
                </a:solidFill>
                <a:latin typeface="Calibri"/>
              </a:rPr>
              <a:t>Architecture, caveats &amp; constraints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20" y="4462272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45E63"/>
                </a:solidFill>
                <a:latin typeface="Calibri"/>
              </a:rPr>
              <a:t>What's real, what's mocked, and why — stated up front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02920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6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5029200"/>
            <a:ext cx="10058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5FA8CC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20" y="5148072"/>
            <a:ext cx="9326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A363B"/>
                </a:solidFill>
                <a:latin typeface="Calibri"/>
              </a:rPr>
              <a:t>Roadmap &amp; next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20" y="5559552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45E63"/>
                </a:solidFill>
                <a:latin typeface="Calibri"/>
              </a:rPr>
              <a:t>The 90-day path from this demo to a live pilot</a:t>
            </a:r>
          </a:p>
        </p:txBody>
      </p:sp>
      <p:pic>
        <p:nvPicPr>
          <p:cNvPr id="22" name="Picture 21" descr="mono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enAIObsPPT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377440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5FA8CC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What this demo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8686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C7D3D8"/>
                </a:solidFill>
                <a:latin typeface="Calibri"/>
              </a:rPr>
              <a:t>Why conventional APM misses agentic Gen AI failure modes — and what this repo shows instead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B7BEC2"/>
                </a:solidFill>
                <a:latin typeface="Calibri"/>
              </a:rPr>
              <a:t>03 / 16</a:t>
            </a:r>
          </a:p>
        </p:txBody>
      </p:sp>
      <p:pic>
        <p:nvPicPr>
          <p:cNvPr id="8" name="Picture 7" descr="mon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19088"/>
            <a:ext cx="201168" cy="201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856" y="6409944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A8A17B"/>
                </a:solidFill>
                <a:latin typeface="Poppins"/>
              </a:rPr>
              <a:t>Getamazednow AI</a:t>
            </a:r>
            <a:r>
              <a:rPr sz="850" b="0">
                <a:solidFill>
                  <a:srgbClr val="A8A17B"/>
                </a:solidFill>
                <a:latin typeface="Inter"/>
              </a:rPr>
              <a:t>   ·   A Getamazednow Company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01 —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A “successful” response can still hide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04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Executive Overview  |  MOCK / SYNTHETIC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45E63"/>
                </a:solidFill>
                <a:latin typeface="Calibri"/>
              </a:rPr>
              <a:t>A Gen AI agent can return an HTTP 200 and still have failed. Conventional APM misses what matters most: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011680"/>
          <a:ext cx="11155679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9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65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Conventional APM sees</a:t>
                      </a:r>
                    </a:p>
                  </a:txBody>
                  <a:tcPr marT="50800" marB="50800" anchor="ctr">
                    <a:solidFill>
                      <a:srgbClr val="2A3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Agentic Gen AI actually needs to catch</a:t>
                      </a:r>
                    </a:p>
                  </a:txBody>
                  <a:tcPr marT="50800" marB="50800" anchor="ctr">
                    <a:solidFill>
                      <a:srgbClr val="2A3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Request succeeded (200 OK)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Was the business outcome achieved, or did the agent produce a wrong or ungrounded answer?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Latency within SLA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Was cost within budget — did the workflow quietly burn 10x the expected tokens?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No application errors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Did a prompt-injection attempt bypass a guardrail and reach a money-moving tool?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Server didn't crash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Did an agent loop fan out into 40 tool calls before anyone noticed?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62356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2A363B"/>
                </a:solidFill>
                <a:latin typeface="Calibri"/>
              </a:rPr>
              <a:t>This is the gap the two source documents address — cost, reliability, performance, agent behaviour, security and responsible-AI risk, correlated by trace, in one observability model.</a:t>
            </a:r>
          </a:p>
        </p:txBody>
      </p:sp>
      <p:pic>
        <p:nvPicPr>
          <p:cNvPr id="9" name="Picture 8" descr="mono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01 — THE DEMO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Order Support &amp; Returns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05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Executive Overview  |  MOCK / SYNTHETIC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64008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45E63"/>
                </a:solidFill>
                <a:latin typeface="Calibri"/>
              </a:rPr>
              <a:t>An agentic retail customer-service workflow — order status, returns, refunds, loyalty credits, address changes — across three storefront brands, over a synthetic 30-day window (1–30 June 2026).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80360"/>
            <a:ext cx="640080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28600" indent="-228600" algn="l">
              <a:lnSpc>
                <a:spcPct val="120000"/>
              </a:lnSpc>
              <a:spcAft>
                <a:spcPts val="1000"/>
              </a:spcAft>
              <a:buFont typeface="Poppins"/>
              <a:buChar char="•"/>
            </a:pPr>
            <a:r>
              <a:rPr sz="1350" b="1">
                <a:solidFill>
                  <a:srgbClr val="2C3234"/>
                </a:solidFill>
                <a:latin typeface="Calibri"/>
              </a:rPr>
              <a:t>Cost at scale — </a:t>
            </a:r>
            <a:r>
              <a:rPr sz="1350">
                <a:solidFill>
                  <a:srgbClr val="2C3234"/>
                </a:solidFill>
                <a:latin typeface="Calibri"/>
              </a:rPr>
              <a:t>thousands of workflows a month, real token/tool cost economics.</a:t>
            </a:r>
          </a:p>
          <a:p>
            <a:pPr marL="228600" indent="-228600" algn="l">
              <a:lnSpc>
                <a:spcPct val="120000"/>
              </a:lnSpc>
              <a:spcAft>
                <a:spcPts val="1000"/>
              </a:spcAft>
              <a:buFont typeface="Poppins"/>
              <a:buChar char="•"/>
            </a:pPr>
            <a:r>
              <a:rPr sz="1350" b="1">
                <a:solidFill>
                  <a:srgbClr val="2C3234"/>
                </a:solidFill>
                <a:latin typeface="Calibri"/>
              </a:rPr>
              <a:t>Tool-driven side effects — </a:t>
            </a:r>
            <a:r>
              <a:rPr sz="1350">
                <a:solidFill>
                  <a:srgbClr val="2C3234"/>
                </a:solidFill>
                <a:latin typeface="Calibri"/>
              </a:rPr>
              <a:t>refunds move money; this is not a read-only chatbot.</a:t>
            </a:r>
          </a:p>
          <a:p>
            <a:pPr marL="228600" indent="-228600" algn="l">
              <a:lnSpc>
                <a:spcPct val="120000"/>
              </a:lnSpc>
              <a:spcAft>
                <a:spcPts val="1000"/>
              </a:spcAft>
              <a:buFont typeface="Poppins"/>
              <a:buChar char="•"/>
            </a:pPr>
            <a:r>
              <a:rPr sz="1350" b="1">
                <a:solidFill>
                  <a:srgbClr val="2C3234"/>
                </a:solidFill>
                <a:latin typeface="Calibri"/>
              </a:rPr>
              <a:t>A believable attack surface — </a:t>
            </a:r>
            <a:r>
              <a:rPr sz="1350">
                <a:solidFill>
                  <a:srgbClr val="2C3234"/>
                </a:solidFill>
                <a:latin typeface="Calibri"/>
              </a:rPr>
              <a:t>prompt injection against a refund_issue tool is realistic and high-stakes.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4343400" cy="4480560"/>
          </a:xfrm>
          <a:prstGeom prst="roundRect">
            <a:avLst>
              <a:gd name="adj" fmla="val 6000"/>
            </a:avLst>
          </a:prstGeom>
          <a:solidFill>
            <a:srgbClr val="2A3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0" y="164592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FA8CC"/>
                </a:solidFill>
                <a:latin typeface="Calibri"/>
              </a:rPr>
              <a:t>TWO SOURCE DOCUMENTS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8404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AI Observability Metrics Catalogue for Agentic LLM Workflows (v1.0)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— the what to measure and govern baseline: ~150 metrics across 13 dimensions.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657600"/>
            <a:ext cx="38404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AI Observability — Datadog Implementation Addendum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— the how to implement it companion: telemetry contract, 7-dashboard pack, SLOs, 90-day roadmap.</a:t>
            </a:r>
          </a:p>
        </p:txBody>
      </p:sp>
      <p:pic>
        <p:nvPicPr>
          <p:cNvPr id="12" name="Picture 11" descr="mono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01 — SEEDED FOR A REASON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Three storylines, deliberately built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06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Executive Overview  |  MOCK / SYNTHETIC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F6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3611880" cy="54864"/>
          </a:xfrm>
          <a:prstGeom prst="rect">
            <a:avLst/>
          </a:prstGeom>
          <a:solidFill>
            <a:srgbClr val="5F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783080"/>
            <a:ext cx="320954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A363B"/>
                </a:solidFill>
                <a:latin typeface="Calibri"/>
              </a:rPr>
              <a:t>REL-2026-0608 / 0609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58568"/>
            <a:ext cx="3209544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45E63"/>
                </a:solidFill>
                <a:latin typeface="Calibri"/>
              </a:rPr>
              <a:t>Prompt v14 → v15 degraded groundedness &amp; citation accuracy — caught by the eval harness, rolled back ~27h later.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0020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F6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600200"/>
            <a:ext cx="3611880" cy="54864"/>
          </a:xfrm>
          <a:prstGeom prst="rect">
            <a:avLst/>
          </a:prstGeom>
          <a:solidFill>
            <a:srgbClr val="E3A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98848" y="1783080"/>
            <a:ext cx="320954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A363B"/>
                </a:solidFill>
                <a:latin typeface="Calibri"/>
              </a:rPr>
              <a:t>INC-2026-0611 (Sev2)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258568"/>
            <a:ext cx="3209544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45E63"/>
                </a:solidFill>
                <a:latin typeface="Calibri"/>
              </a:rPr>
              <a:t>Prompt-injection cluster targeting the refund_issue tool — guardrail caught 92%, a handful bypassed.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0020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F6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600200"/>
            <a:ext cx="3611880" cy="54864"/>
          </a:xfrm>
          <a:prstGeom prst="rect">
            <a:avLst/>
          </a:prstGeom>
          <a:solidFill>
            <a:srgbClr val="A0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783080"/>
            <a:ext cx="320954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A363B"/>
                </a:solidFill>
                <a:latin typeface="Calibri"/>
              </a:rPr>
              <a:t>INC-2026-0621 (Sev1)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58568"/>
            <a:ext cx="3209544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45E63"/>
                </a:solidFill>
                <a:latin typeface="Calibri"/>
              </a:rPr>
              <a:t>Promo traffic surge triggered provider rate-limiting — retries, fallback routing, cost &amp; latency spike.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16636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2A363B"/>
                </a:solidFill>
                <a:latin typeface="Calibri"/>
              </a:rPr>
              <a:t>Each incident is a rehearsal for a real production scenario — the dashboards show a diagnosable signal, not noise.</a:t>
            </a:r>
          </a:p>
        </p:txBody>
      </p:sp>
      <p:pic>
        <p:nvPicPr>
          <p:cNvPr id="19" name="Picture 18" descr="mono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01 — HEADLINE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From the current synthetic 30-day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07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Executive Overview  |  MOCK / SYNTHETIC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73152" cy="1920240"/>
          </a:xfrm>
          <a:prstGeom prst="rect">
            <a:avLst/>
          </a:prstGeom>
          <a:solidFill>
            <a:srgbClr val="5F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709928"/>
            <a:ext cx="32461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2A363B"/>
                </a:solidFill>
                <a:latin typeface="Calibri"/>
              </a:rPr>
              <a:t>~5,100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45E63"/>
                </a:solidFill>
                <a:latin typeface="Calibri"/>
              </a:rPr>
              <a:t>Workflows (30 days)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0020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600200"/>
            <a:ext cx="73152" cy="1920240"/>
          </a:xfrm>
          <a:prstGeom prst="rect">
            <a:avLst/>
          </a:prstGeom>
          <a:solidFill>
            <a:srgbClr val="5F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709928"/>
            <a:ext cx="32461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2A363B"/>
                </a:solidFill>
                <a:latin typeface="Calibri"/>
              </a:rPr>
              <a:t>~95%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01752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45E63"/>
                </a:solidFill>
                <a:latin typeface="Calibri"/>
              </a:rPr>
              <a:t>Success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0020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600200"/>
            <a:ext cx="73152" cy="1920240"/>
          </a:xfrm>
          <a:prstGeom prst="rect">
            <a:avLst/>
          </a:prstGeom>
          <a:solidFill>
            <a:srgbClr val="E3A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709928"/>
            <a:ext cx="32461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2A363B"/>
                </a:solidFill>
                <a:latin typeface="Calibri"/>
              </a:rPr>
              <a:t>~$0.025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01752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45E63"/>
                </a:solidFill>
                <a:latin typeface="Calibri"/>
              </a:rPr>
              <a:t>Cost per successful workflow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4904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3749040"/>
            <a:ext cx="73152" cy="1920240"/>
          </a:xfrm>
          <a:prstGeom prst="rect">
            <a:avLst/>
          </a:prstGeom>
          <a:solidFill>
            <a:srgbClr val="E3A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858768"/>
            <a:ext cx="32461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2A363B"/>
                </a:solidFill>
                <a:latin typeface="Calibri"/>
              </a:rPr>
              <a:t>~$120 / $150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6636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45E63"/>
                </a:solidFill>
                <a:latin typeface="Calibri"/>
              </a:rPr>
              <a:t>Monthly AI run-rate vs. budget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74904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97680" y="3749040"/>
            <a:ext cx="73152" cy="1920240"/>
          </a:xfrm>
          <a:prstGeom prst="rect">
            <a:avLst/>
          </a:prstGeom>
          <a:solidFill>
            <a:srgbClr val="2C6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26280" y="3858768"/>
            <a:ext cx="32461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2A363B"/>
                </a:solidFill>
                <a:latin typeface="Calibri"/>
              </a:rPr>
              <a:t>~$31,400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516636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45E63"/>
                </a:solidFill>
                <a:latin typeface="Calibri"/>
              </a:rPr>
              <a:t>Est. monthly cost avoidance*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74904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92440" y="3749040"/>
            <a:ext cx="73152" cy="1920240"/>
          </a:xfrm>
          <a:prstGeom prst="rect">
            <a:avLst/>
          </a:prstGeom>
          <a:solidFill>
            <a:srgbClr val="A0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0" y="3858768"/>
            <a:ext cx="32461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2A363B"/>
                </a:solidFill>
                <a:latin typeface="Calibri"/>
              </a:rPr>
              <a:t>2 + 1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16636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45E63"/>
                </a:solidFill>
                <a:latin typeface="Calibri"/>
              </a:rPr>
              <a:t>Incidents (1 Sev1, 1 Sev2) + rollback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A97A0"/>
                </a:solidFill>
                <a:latin typeface="Calibri"/>
              </a:rPr>
              <a:t>*Illustrative only — assumes a $6.50 fully-loaded cost per human-handled contact, a modelling assumption for this demo, not a sourced benchmark.</a:t>
            </a:r>
          </a:p>
        </p:txBody>
      </p:sp>
      <p:pic>
        <p:nvPicPr>
          <p:cNvPr id="31" name="Picture 30" descr="mono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enAIObsPPT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377440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5FA8CC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How to use the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8686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C7D3D8"/>
                </a:solidFill>
                <a:latin typeface="Calibri"/>
              </a:rPr>
              <a:t>A 7-tab tour, one dashboard per audience, all reading from a single trace-tree source of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B7BEC2"/>
                </a:solidFill>
                <a:latin typeface="Calibri"/>
              </a:rPr>
              <a:t>08 / 16</a:t>
            </a:r>
          </a:p>
        </p:txBody>
      </p:sp>
      <p:pic>
        <p:nvPicPr>
          <p:cNvPr id="8" name="Picture 7" descr="mon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19088"/>
            <a:ext cx="201168" cy="201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856" y="6409944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A8A17B"/>
                </a:solidFill>
                <a:latin typeface="Poppins"/>
              </a:rPr>
              <a:t>Getamazednow AI</a:t>
            </a:r>
            <a:r>
              <a:rPr sz="850" b="0">
                <a:solidFill>
                  <a:srgbClr val="A8A17B"/>
                </a:solidFill>
                <a:latin typeface="Inter"/>
              </a:rPr>
              <a:t>   ·   A Getamazednow Company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02 — INFORMATION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7 dashboards, 7 audiences, one trace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09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Executive Overview  |  MOCK / SYNTHETIC DATA</a:t>
            </a:r>
          </a:p>
        </p:txBody>
      </p:sp>
      <p:pic>
        <p:nvPicPr>
          <p:cNvPr id="6" name="Picture 5" descr="05-dashboard-information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120" y="1417320"/>
            <a:ext cx="6831279" cy="4892040"/>
          </a:xfrm>
          <a:prstGeom prst="rect">
            <a:avLst/>
          </a:prstGeom>
        </p:spPr>
      </p:pic>
      <p:pic>
        <p:nvPicPr>
          <p:cNvPr id="7" name="Picture 6" descr="mono_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02 — LIVE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Suggested walkthrough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10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Executive Overview  |  MOCK / SYNTHETIC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649224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28600" indent="-228600" algn="l">
              <a:lnSpc>
                <a:spcPct val="120000"/>
              </a:lnSpc>
              <a:spcAft>
                <a:spcPts val="1400"/>
              </a:spcAft>
              <a:buFont typeface="Poppins"/>
              <a:buChar char="•"/>
            </a:pPr>
            <a:r>
              <a:rPr sz="1350" b="1">
                <a:solidFill>
                  <a:srgbClr val="2C3234"/>
                </a:solidFill>
                <a:latin typeface="Calibri"/>
              </a:rPr>
              <a:t>1. Executive AI Health — </a:t>
            </a:r>
            <a:r>
              <a:rPr sz="1350">
                <a:solidFill>
                  <a:srgbClr val="2C3234"/>
                </a:solidFill>
                <a:latin typeface="Calibri"/>
              </a:rPr>
              <a:t>set business context and headline numbers.</a:t>
            </a:r>
          </a:p>
          <a:p>
            <a:pPr marL="228600" indent="-228600" algn="l">
              <a:lnSpc>
                <a:spcPct val="120000"/>
              </a:lnSpc>
              <a:spcAft>
                <a:spcPts val="1400"/>
              </a:spcAft>
              <a:buFont typeface="Poppins"/>
              <a:buChar char="•"/>
            </a:pPr>
            <a:r>
              <a:rPr sz="1350" b="1">
                <a:solidFill>
                  <a:srgbClr val="2C3234"/>
                </a:solidFill>
                <a:latin typeface="Calibri"/>
              </a:rPr>
              <a:t>2. Security &amp; Responsible AI — </a:t>
            </a:r>
            <a:r>
              <a:rPr sz="1350">
                <a:solidFill>
                  <a:srgbClr val="2C3234"/>
                </a:solidFill>
                <a:latin typeface="Calibri"/>
              </a:rPr>
              <a:t>open the incident spotlight; usually the most attention-grabbing tab.</a:t>
            </a:r>
          </a:p>
          <a:p>
            <a:pPr marL="228600" indent="-228600" algn="l">
              <a:lnSpc>
                <a:spcPct val="120000"/>
              </a:lnSpc>
              <a:spcAft>
                <a:spcPts val="1400"/>
              </a:spcAft>
              <a:buFont typeface="Poppins"/>
              <a:buChar char="•"/>
            </a:pPr>
            <a:r>
              <a:rPr sz="1350" b="1">
                <a:solidFill>
                  <a:srgbClr val="2C3234"/>
                </a:solidFill>
                <a:latin typeface="Calibri"/>
              </a:rPr>
              <a:t>3. Engineering Operations — </a:t>
            </a:r>
            <a:r>
              <a:rPr sz="1350">
                <a:solidFill>
                  <a:srgbClr val="2C3234"/>
                </a:solidFill>
                <a:latin typeface="Calibri"/>
              </a:rPr>
              <a:t>the trace waterfall grounds the abstract “trace tree” in a concrete picture.</a:t>
            </a:r>
          </a:p>
          <a:p>
            <a:pPr marL="228600" indent="-228600" algn="l">
              <a:lnSpc>
                <a:spcPct val="120000"/>
              </a:lnSpc>
              <a:spcAft>
                <a:spcPts val="1400"/>
              </a:spcAft>
              <a:buFont typeface="Poppins"/>
              <a:buChar char="•"/>
            </a:pPr>
            <a:r>
              <a:rPr sz="1350" b="1">
                <a:solidFill>
                  <a:srgbClr val="2C3234"/>
                </a:solidFill>
                <a:latin typeface="Calibri"/>
              </a:rPr>
              <a:t>4. Cost &amp; Capacity — </a:t>
            </a:r>
            <a:r>
              <a:rPr sz="1350">
                <a:solidFill>
                  <a:srgbClr val="2C3234"/>
                </a:solidFill>
                <a:latin typeface="Calibri"/>
              </a:rPr>
              <a:t>connect the rate-limit incident to a dollar figure.</a:t>
            </a:r>
          </a:p>
          <a:p>
            <a:pPr marL="228600" indent="-228600" algn="l">
              <a:lnSpc>
                <a:spcPct val="120000"/>
              </a:lnSpc>
              <a:spcAft>
                <a:spcPts val="1400"/>
              </a:spcAft>
              <a:buFont typeface="Poppins"/>
              <a:buChar char="•"/>
            </a:pPr>
            <a:r>
              <a:rPr sz="1350" b="1">
                <a:solidFill>
                  <a:srgbClr val="2C3234"/>
                </a:solidFill>
                <a:latin typeface="Calibri"/>
              </a:rPr>
              <a:t>5. RAG &amp; Grounding or Release &amp; Evaluation — </a:t>
            </a:r>
            <a:r>
              <a:rPr sz="1350">
                <a:solidFill>
                  <a:srgbClr val="2C3234"/>
                </a:solidFill>
                <a:latin typeface="Calibri"/>
              </a:rPr>
              <a:t>close by flagging the synthetic-eval-harness caveat explicitly.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554480"/>
            <a:ext cx="4343400" cy="4389120"/>
          </a:xfrm>
          <a:prstGeom prst="roundRect">
            <a:avLst>
              <a:gd name="adj" fmla="val 6000"/>
            </a:avLst>
          </a:prstGeom>
          <a:solidFill>
            <a:srgbClr val="2A3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0" y="178308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FA8CC"/>
                </a:solidFill>
                <a:latin typeface="Calibri"/>
              </a:rPr>
              <a:t>RUNNING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194560"/>
            <a:ext cx="384048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FFFFFF"/>
                </a:solidFill>
                <a:latin typeface="Courier New"/>
              </a:rPr>
              <a:t>cd genai-observability-demo/dashboard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FFFFFF"/>
                </a:solidFill>
                <a:latin typeface="Courier New"/>
              </a:rPr>
              <a:t>python3 -m http.server 8000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FFFFFF"/>
                </a:solidFill>
                <a:latin typeface="Courier New"/>
              </a:rPr>
              <a:t># open http://localhost:8000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4480560"/>
            <a:ext cx="3840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7D3D8"/>
                </a:solidFill>
                <a:latin typeface="Calibri"/>
              </a:rPr>
              <a:t>Static HTML/CSS/JS, Chart.js via CDN. No build step. Every screen carries a “MOCK / SYNTHETIC DATA” pill — keep it visible in any live demo.</a:t>
            </a:r>
          </a:p>
        </p:txBody>
      </p:sp>
      <p:pic>
        <p:nvPicPr>
          <p:cNvPr id="11" name="Picture 10" descr="mono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enAIObsPPT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377440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5FA8CC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Architecture, caveats &amp;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8686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C7D3D8"/>
                </a:solidFill>
                <a:latin typeface="Calibri"/>
              </a:rPr>
              <a:t>Honesty about scope is the point — what's real, what's mocked, and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B7BEC2"/>
                </a:solidFill>
                <a:latin typeface="Calibri"/>
              </a:rPr>
              <a:t>11 / 16</a:t>
            </a:r>
          </a:p>
        </p:txBody>
      </p:sp>
      <p:pic>
        <p:nvPicPr>
          <p:cNvPr id="8" name="Picture 7" descr="mon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19088"/>
            <a:ext cx="201168" cy="201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856" y="6409944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A8A17B"/>
                </a:solidFill>
                <a:latin typeface="Poppins"/>
              </a:rPr>
              <a:t>Getamazednow AI</a:t>
            </a:r>
            <a:r>
              <a:rPr sz="850" b="0">
                <a:solidFill>
                  <a:srgbClr val="A8A17B"/>
                </a:solidFill>
                <a:latin typeface="Inter"/>
              </a:rPr>
              <a:t>   ·   A Getamazednow Company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03 — CORE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One connected trace tree, not isolated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12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Executive Overview  |  MOCK / SYNTHETIC DATA</a:t>
            </a:r>
          </a:p>
        </p:txBody>
      </p:sp>
      <p:pic>
        <p:nvPicPr>
          <p:cNvPr id="6" name="Picture 5" descr="01-trace-tree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509" y="1417320"/>
            <a:ext cx="4713062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69480" y="1417320"/>
            <a:ext cx="4389120" cy="4892040"/>
          </a:xfrm>
          <a:prstGeom prst="roundRect">
            <a:avLst>
              <a:gd name="adj" fmla="val 6000"/>
            </a:avLst>
          </a:prstGeom>
          <a:solidFill>
            <a:srgbClr val="F6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43800" y="164592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FA8CC"/>
                </a:solidFill>
                <a:latin typeface="Calibri"/>
              </a:rPr>
              <a:t>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103120"/>
            <a:ext cx="38862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45E63"/>
                </a:solidFill>
                <a:latin typeface="Calibri"/>
              </a:rPr>
              <a:t>Datadog is the production observability/control plane — not the policy authority. Policy ownership stays with architecture, security, data governance and responsible-AI risk.</a:t>
            </a:r>
          </a:p>
          <a:p>
            <a:pPr algn="l">
              <a:lnSpc>
                <a:spcPct val="135000"/>
              </a:lnSpc>
            </a:pPr>
            <a:endParaRPr sz="1200" b="0" i="0">
              <a:solidFill>
                <a:srgbClr val="545E63"/>
              </a:solidFill>
              <a:latin typeface="Calibri"/>
            </a:endParaRP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45E63"/>
                </a:solidFill>
                <a:latin typeface="Calibri"/>
              </a:rPr>
              <a:t>The synthetic guardrail spans record policy decisions (allow/block/escalate); they do not implement policy.</a:t>
            </a:r>
          </a:p>
          <a:p>
            <a:pPr algn="l">
              <a:lnSpc>
                <a:spcPct val="135000"/>
              </a:lnSpc>
            </a:pPr>
            <a:endParaRPr sz="1200" b="0" i="0">
              <a:solidFill>
                <a:srgbClr val="545E63"/>
              </a:solidFill>
              <a:latin typeface="Calibri"/>
            </a:endParaRP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45E63"/>
                </a:solidFill>
                <a:latin typeface="Calibri"/>
              </a:rPr>
              <a:t>This single choice — a connected trace tree — is what makes cross-dimensional correlation possible: the same workflow_id that shows up as a cost line in the Executive tab is the same trace that shows a policy bypass in the Security tab.</a:t>
            </a:r>
          </a:p>
        </p:txBody>
      </p:sp>
      <p:pic>
        <p:nvPicPr>
          <p:cNvPr id="10" name="Picture 9" descr="mono_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03 — READ THE FINE 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The single most important caveat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13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Executive Overview  |  MOCK / SYNTHETIC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11155680" cy="3246120"/>
          </a:xfrm>
          <a:prstGeom prst="roundRect">
            <a:avLst>
              <a:gd name="adj" fmla="val 5000"/>
            </a:avLst>
          </a:prstGeom>
          <a:solidFill>
            <a:srgbClr val="FC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91440" cy="3246120"/>
          </a:xfrm>
          <a:prstGeom prst="rect">
            <a:avLst/>
          </a:prstGeom>
          <a:solidFill>
            <a:srgbClr val="E3A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A363B"/>
                </a:solidFill>
                <a:latin typeface="Calibri"/>
              </a:rPr>
              <a:t>Synthetic evaluation-harness series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42416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2C3234"/>
                </a:solidFill>
                <a:latin typeface="Calibri"/>
              </a:rPr>
              <a:t>Groundedness, citation accuracy, hallucination rate, abstention rate, regression pass rate and golden-set accuracy are all present in the RAG and Release dashboards. They are generated as a synthetic daily series, independent of the raw workflow/LLM/tool/retrieval spans — deliberately, because that mirrors exactly how a real implementation works: evals run on a schedule against sampled traffic, not inline on every request.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029200"/>
            <a:ext cx="111556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2A363B"/>
                </a:solidFill>
                <a:latin typeface="Calibri"/>
              </a:rPr>
              <a:t>A real eval harness (LLM-as-judge, golden sets, human review sampling) is still required to produce these numbers for real — scoped into Weeks 7–10 of the roadmap. Presenting this caveat up front builds credibility with a technical audience; burying it costs credibility later.</a:t>
            </a:r>
          </a:p>
        </p:txBody>
      </p:sp>
      <p:pic>
        <p:nvPicPr>
          <p:cNvPr id="11" name="Picture 10" descr="mono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enAIObsPPT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377440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5FA8CC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Roadmap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8686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C7D3D8"/>
                </a:solidFill>
                <a:latin typeface="Calibri"/>
              </a:rPr>
              <a:t>The 90-day path from this mock demo to a live, governed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B7BEC2"/>
                </a:solidFill>
                <a:latin typeface="Calibri"/>
              </a:rPr>
              <a:t>14 / 16</a:t>
            </a:r>
          </a:p>
        </p:txBody>
      </p:sp>
      <p:pic>
        <p:nvPicPr>
          <p:cNvPr id="8" name="Picture 7" descr="mon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19088"/>
            <a:ext cx="201168" cy="201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856" y="6409944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A8A17B"/>
                </a:solidFill>
                <a:latin typeface="Poppins"/>
              </a:rPr>
              <a:t>Getamazednow AI</a:t>
            </a:r>
            <a:r>
              <a:rPr sz="850" b="0">
                <a:solidFill>
                  <a:srgbClr val="A8A17B"/>
                </a:solidFill>
                <a:latin typeface="Inter"/>
              </a:rPr>
              <a:t>   ·   A Getamazednow Company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04 — 90-DAY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Foundation → Operate → Govern →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15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Executive Overview  |  MOCK / SYNTHETIC DATA</a:t>
            </a:r>
          </a:p>
        </p:txBody>
      </p:sp>
      <p:pic>
        <p:nvPicPr>
          <p:cNvPr id="6" name="Picture 5" descr="04-roadmap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780" y="1417320"/>
            <a:ext cx="8971960" cy="4937760"/>
          </a:xfrm>
          <a:prstGeom prst="rect">
            <a:avLst/>
          </a:prstGeom>
        </p:spPr>
      </p:pic>
      <p:pic>
        <p:nvPicPr>
          <p:cNvPr id="7" name="Picture 6" descr="mono_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04 — GETTING TO A REAL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What it takes to go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16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Executive Overview  |  MOCK / SYNTHETIC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FA8CC"/>
                </a:solidFill>
                <a:latin typeface="Calibri"/>
              </a:rPr>
              <a:t>ORGANISATIONAL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544068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28600" indent="-228600" algn="l">
              <a:lnSpc>
                <a:spcPct val="120000"/>
              </a:lnSpc>
              <a:spcAft>
                <a:spcPts val="1200"/>
              </a:spcAft>
              <a:buFont typeface="Poppins"/>
              <a:buChar char="•"/>
            </a:pPr>
            <a:r>
              <a:rPr sz="1250">
                <a:solidFill>
                  <a:srgbClr val="2C3234"/>
                </a:solidFill>
                <a:latin typeface="Calibri"/>
              </a:rPr>
              <a:t>Named owner per accountability layer (Platform Eng, Security, Data Governance, Responsible AI, Product, Architecture)</a:t>
            </a:r>
          </a:p>
          <a:p>
            <a:pPr marL="228600" indent="-228600" algn="l">
              <a:lnSpc>
                <a:spcPct val="120000"/>
              </a:lnSpc>
              <a:spcAft>
                <a:spcPts val="1200"/>
              </a:spcAft>
              <a:buFont typeface="Poppins"/>
              <a:buChar char="•"/>
            </a:pPr>
            <a:r>
              <a:rPr sz="1250">
                <a:solidFill>
                  <a:srgbClr val="2C3234"/>
                </a:solidFill>
                <a:latin typeface="Calibri"/>
              </a:rPr>
              <a:t>Risk tier defined for the pilot workflow</a:t>
            </a:r>
          </a:p>
          <a:p>
            <a:pPr marL="228600" indent="-228600" algn="l">
              <a:lnSpc>
                <a:spcPct val="120000"/>
              </a:lnSpc>
              <a:spcAft>
                <a:spcPts val="1200"/>
              </a:spcAft>
              <a:buFont typeface="Poppins"/>
              <a:buChar char="•"/>
            </a:pPr>
            <a:r>
              <a:rPr sz="1250">
                <a:solidFill>
                  <a:srgbClr val="2C3234"/>
                </a:solidFill>
                <a:latin typeface="Calibri"/>
              </a:rPr>
              <a:t>Redaction/retention policy signed off before real content is logged</a:t>
            </a:r>
          </a:p>
          <a:p>
            <a:pPr marL="228600" indent="-228600" algn="l">
              <a:lnSpc>
                <a:spcPct val="120000"/>
              </a:lnSpc>
              <a:spcAft>
                <a:spcPts val="1200"/>
              </a:spcAft>
              <a:buFont typeface="Poppins"/>
              <a:buChar char="•"/>
            </a:pPr>
            <a:r>
              <a:rPr sz="1250">
                <a:solidFill>
                  <a:srgbClr val="2C3234"/>
                </a:solidFill>
                <a:latin typeface="Calibri"/>
              </a:rPr>
              <a:t>Executive sponsor for the cost-avoidance / ROI narrative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17320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FA8CC"/>
                </a:solidFill>
                <a:latin typeface="Calibri"/>
              </a:rPr>
              <a:t>TECHNICAL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544068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28600" indent="-228600" algn="l">
              <a:lnSpc>
                <a:spcPct val="120000"/>
              </a:lnSpc>
              <a:spcAft>
                <a:spcPts val="1000"/>
              </a:spcAft>
              <a:buFont typeface="Poppins"/>
              <a:buChar char="•"/>
            </a:pPr>
            <a:r>
              <a:rPr sz="1250">
                <a:solidFill>
                  <a:srgbClr val="2C3234"/>
                </a:solidFill>
                <a:latin typeface="Calibri"/>
              </a:rPr>
              <a:t>Datadog org with LLM Observability + APM entitlements</a:t>
            </a:r>
          </a:p>
          <a:p>
            <a:pPr marL="228600" indent="-228600" algn="l">
              <a:lnSpc>
                <a:spcPct val="120000"/>
              </a:lnSpc>
              <a:spcAft>
                <a:spcPts val="1000"/>
              </a:spcAft>
              <a:buFont typeface="Poppins"/>
              <a:buChar char="•"/>
            </a:pPr>
            <a:r>
              <a:rPr sz="1250">
                <a:solidFill>
                  <a:srgbClr val="2C3234"/>
                </a:solidFill>
                <a:latin typeface="Calibri"/>
              </a:rPr>
              <a:t>SDK vs. OpenTelemetry instrumentation decision</a:t>
            </a:r>
          </a:p>
          <a:p>
            <a:pPr marL="228600" indent="-228600" algn="l">
              <a:lnSpc>
                <a:spcPct val="120000"/>
              </a:lnSpc>
              <a:spcAft>
                <a:spcPts val="1000"/>
              </a:spcAft>
              <a:buFont typeface="Poppins"/>
              <a:buChar char="•"/>
            </a:pPr>
            <a:r>
              <a:rPr sz="1250">
                <a:solidFill>
                  <a:srgbClr val="2C3234"/>
                </a:solidFill>
                <a:latin typeface="Calibri"/>
              </a:rPr>
              <a:t>Approved model/tool registry for the pilot workflow</a:t>
            </a:r>
          </a:p>
          <a:p>
            <a:pPr marL="228600" indent="-228600" algn="l">
              <a:lnSpc>
                <a:spcPct val="120000"/>
              </a:lnSpc>
              <a:spcAft>
                <a:spcPts val="1000"/>
              </a:spcAft>
              <a:buFont typeface="Poppins"/>
              <a:buChar char="•"/>
            </a:pPr>
            <a:r>
              <a:rPr sz="1250">
                <a:solidFill>
                  <a:srgbClr val="2C3234"/>
                </a:solidFill>
                <a:latin typeface="Calibri"/>
              </a:rPr>
              <a:t>Tag taxonomy agreed before scaling past the pilot</a:t>
            </a:r>
          </a:p>
          <a:p>
            <a:pPr marL="228600" indent="-228600" algn="l">
              <a:lnSpc>
                <a:spcPct val="120000"/>
              </a:lnSpc>
              <a:spcAft>
                <a:spcPts val="1000"/>
              </a:spcAft>
              <a:buFont typeface="Poppins"/>
              <a:buChar char="•"/>
            </a:pPr>
            <a:r>
              <a:rPr sz="1250">
                <a:solidFill>
                  <a:srgbClr val="2C3234"/>
                </a:solidFill>
                <a:latin typeface="Calibri"/>
              </a:rPr>
              <a:t>On-call/alert-routing target to wire monitors and SLOs 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62356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2A3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Sources: AI Observability Metrics Catalogue v1.0  •  AI Observability — Datadog Implementation Addendum  •  OpenTelemetry GenAI semantic conventions  •  NIST AI RMF 1.0  •  OWASP Top 10 for LLM Apps  •  Datadog LLM Observability docs</a:t>
            </a:r>
          </a:p>
        </p:txBody>
      </p:sp>
      <p:pic>
        <p:nvPicPr>
          <p:cNvPr id="12" name="Picture 11" descr="mono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E7DA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Poppins"/>
        <a:font script="Hebr" typeface="Poppi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Poppi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1513</Words>
  <Application>Microsoft Macintosh PowerPoint</Application>
  <PresentationFormat>Widescreen</PresentationFormat>
  <Paragraphs>155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Courier New</vt:lpstr>
      <vt:lpstr>Inter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Duane Gomes</cp:lastModifiedBy>
  <cp:revision>2</cp:revision>
  <dcterms:created xsi:type="dcterms:W3CDTF">2013-01-27T09:14:16Z</dcterms:created>
  <dcterms:modified xsi:type="dcterms:W3CDTF">2026-07-15T06:49:52Z</dcterms:modified>
  <cp:category/>
</cp:coreProperties>
</file>